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0275213" cy="42803763"/>
  <p:notesSz cx="6858000" cy="9144000"/>
  <p:defaultTextStyle>
    <a:defPPr>
      <a:defRPr lang="cs-CZ"/>
    </a:defPPr>
    <a:lvl1pPr marL="0" algn="l" defTabSz="3507730" rtl="0" eaLnBrk="1" latinLnBrk="0" hangingPunct="1">
      <a:defRPr sz="6905" kern="1200">
        <a:solidFill>
          <a:schemeClr val="tx1"/>
        </a:solidFill>
        <a:latin typeface="+mn-lt"/>
        <a:ea typeface="+mn-ea"/>
        <a:cs typeface="+mn-cs"/>
      </a:defRPr>
    </a:lvl1pPr>
    <a:lvl2pPr marL="1753865" algn="l" defTabSz="3507730" rtl="0" eaLnBrk="1" latinLnBrk="0" hangingPunct="1">
      <a:defRPr sz="6905" kern="1200">
        <a:solidFill>
          <a:schemeClr val="tx1"/>
        </a:solidFill>
        <a:latin typeface="+mn-lt"/>
        <a:ea typeface="+mn-ea"/>
        <a:cs typeface="+mn-cs"/>
      </a:defRPr>
    </a:lvl2pPr>
    <a:lvl3pPr marL="3507730" algn="l" defTabSz="3507730" rtl="0" eaLnBrk="1" latinLnBrk="0" hangingPunct="1">
      <a:defRPr sz="6905" kern="1200">
        <a:solidFill>
          <a:schemeClr val="tx1"/>
        </a:solidFill>
        <a:latin typeface="+mn-lt"/>
        <a:ea typeface="+mn-ea"/>
        <a:cs typeface="+mn-cs"/>
      </a:defRPr>
    </a:lvl3pPr>
    <a:lvl4pPr marL="5261595" algn="l" defTabSz="3507730" rtl="0" eaLnBrk="1" latinLnBrk="0" hangingPunct="1">
      <a:defRPr sz="6905" kern="1200">
        <a:solidFill>
          <a:schemeClr val="tx1"/>
        </a:solidFill>
        <a:latin typeface="+mn-lt"/>
        <a:ea typeface="+mn-ea"/>
        <a:cs typeface="+mn-cs"/>
      </a:defRPr>
    </a:lvl4pPr>
    <a:lvl5pPr marL="7015460" algn="l" defTabSz="3507730" rtl="0" eaLnBrk="1" latinLnBrk="0" hangingPunct="1">
      <a:defRPr sz="6905" kern="1200">
        <a:solidFill>
          <a:schemeClr val="tx1"/>
        </a:solidFill>
        <a:latin typeface="+mn-lt"/>
        <a:ea typeface="+mn-ea"/>
        <a:cs typeface="+mn-cs"/>
      </a:defRPr>
    </a:lvl5pPr>
    <a:lvl6pPr marL="8769325" algn="l" defTabSz="3507730" rtl="0" eaLnBrk="1" latinLnBrk="0" hangingPunct="1">
      <a:defRPr sz="6905" kern="1200">
        <a:solidFill>
          <a:schemeClr val="tx1"/>
        </a:solidFill>
        <a:latin typeface="+mn-lt"/>
        <a:ea typeface="+mn-ea"/>
        <a:cs typeface="+mn-cs"/>
      </a:defRPr>
    </a:lvl6pPr>
    <a:lvl7pPr marL="10523190" algn="l" defTabSz="3507730" rtl="0" eaLnBrk="1" latinLnBrk="0" hangingPunct="1">
      <a:defRPr sz="6905" kern="1200">
        <a:solidFill>
          <a:schemeClr val="tx1"/>
        </a:solidFill>
        <a:latin typeface="+mn-lt"/>
        <a:ea typeface="+mn-ea"/>
        <a:cs typeface="+mn-cs"/>
      </a:defRPr>
    </a:lvl7pPr>
    <a:lvl8pPr marL="12277054" algn="l" defTabSz="3507730" rtl="0" eaLnBrk="1" latinLnBrk="0" hangingPunct="1">
      <a:defRPr sz="6905" kern="1200">
        <a:solidFill>
          <a:schemeClr val="tx1"/>
        </a:solidFill>
        <a:latin typeface="+mn-lt"/>
        <a:ea typeface="+mn-ea"/>
        <a:cs typeface="+mn-cs"/>
      </a:defRPr>
    </a:lvl8pPr>
    <a:lvl9pPr marL="14030919" algn="l" defTabSz="3507730" rtl="0" eaLnBrk="1" latinLnBrk="0" hangingPunct="1">
      <a:defRPr sz="6905"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45" autoAdjust="0"/>
    <p:restoredTop sz="94660"/>
  </p:normalViewPr>
  <p:slideViewPr>
    <p:cSldViewPr snapToGrid="0">
      <p:cViewPr>
        <p:scale>
          <a:sx n="30" d="100"/>
          <a:sy n="30" d="100"/>
        </p:scale>
        <p:origin x="-6" y="5412"/>
      </p:cViewPr>
      <p:guideLst>
        <p:guide orient="horz" pos="13481"/>
        <p:guide pos="95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cs-CZ" smtClean="0"/>
              <a:t>Kliknutím lze upravit styl.</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cs-CZ" smtClean="0"/>
              <a:t>Kliknutím lze upravit styl předlohy.</a:t>
            </a:r>
            <a:endParaRPr lang="en-US" dirty="0"/>
          </a:p>
        </p:txBody>
      </p:sp>
      <p:sp>
        <p:nvSpPr>
          <p:cNvPr id="4" name="Date Placeholder 3"/>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5" name="Footer Placeholder 4"/>
          <p:cNvSpPr>
            <a:spLocks noGrp="1"/>
          </p:cNvSpPr>
          <p:nvPr>
            <p:ph type="ftr" sz="quarter" idx="11"/>
          </p:nvPr>
        </p:nvSpPr>
        <p:spPr/>
        <p:txBody>
          <a:bodyPr/>
          <a:lstStyle/>
          <a:p>
            <a:endParaRPr lang="cs-CZ" dirty="0"/>
          </a:p>
        </p:txBody>
      </p:sp>
      <p:sp>
        <p:nvSpPr>
          <p:cNvPr id="6" name="Slide Number Placeholder 5"/>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3200358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smtClean="0"/>
              <a:t>Kliknutím lze upravit styl.</a:t>
            </a:r>
            <a:endParaRPr lang="en-US" dirty="0"/>
          </a:p>
        </p:txBody>
      </p:sp>
      <p:sp>
        <p:nvSpPr>
          <p:cNvPr id="3" name="Content Placeholder 2"/>
          <p:cNvSpPr>
            <a:spLocks noGrp="1"/>
          </p:cNvSpPr>
          <p:nvPr>
            <p:ph idx="1"/>
          </p:nvPr>
        </p:nvSpPr>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4" name="Date Placeholder 3"/>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5" name="Footer Placeholder 4"/>
          <p:cNvSpPr>
            <a:spLocks noGrp="1"/>
          </p:cNvSpPr>
          <p:nvPr>
            <p:ph type="ftr" sz="quarter" idx="11"/>
          </p:nvPr>
        </p:nvSpPr>
        <p:spPr/>
        <p:txBody>
          <a:bodyPr/>
          <a:lstStyle/>
          <a:p>
            <a:endParaRPr lang="cs-CZ" dirty="0"/>
          </a:p>
        </p:txBody>
      </p:sp>
      <p:sp>
        <p:nvSpPr>
          <p:cNvPr id="6" name="Slide Number Placeholder 5"/>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111889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cs-CZ" smtClean="0"/>
              <a:t>Kliknutím lze upravit styl.</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cs-CZ" smtClean="0"/>
              <a:t>Kliknutím lze upravit styly předlohy textu.</a:t>
            </a:r>
          </a:p>
        </p:txBody>
      </p:sp>
      <p:sp>
        <p:nvSpPr>
          <p:cNvPr id="4" name="Date Placeholder 3"/>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5" name="Footer Placeholder 4"/>
          <p:cNvSpPr>
            <a:spLocks noGrp="1"/>
          </p:cNvSpPr>
          <p:nvPr>
            <p:ph type="ftr" sz="quarter" idx="11"/>
          </p:nvPr>
        </p:nvSpPr>
        <p:spPr/>
        <p:txBody>
          <a:bodyPr/>
          <a:lstStyle/>
          <a:p>
            <a:endParaRPr lang="cs-CZ" dirty="0"/>
          </a:p>
        </p:txBody>
      </p:sp>
      <p:sp>
        <p:nvSpPr>
          <p:cNvPr id="6" name="Slide Number Placeholder 5"/>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2091577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smtClean="0"/>
              <a:t>Kliknutím lze upravit styl.</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5" name="Date Placeholder 4"/>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6" name="Footer Placeholder 5"/>
          <p:cNvSpPr>
            <a:spLocks noGrp="1"/>
          </p:cNvSpPr>
          <p:nvPr>
            <p:ph type="ftr" sz="quarter" idx="11"/>
          </p:nvPr>
        </p:nvSpPr>
        <p:spPr/>
        <p:txBody>
          <a:bodyPr/>
          <a:lstStyle/>
          <a:p>
            <a:endParaRPr lang="cs-CZ" dirty="0"/>
          </a:p>
        </p:txBody>
      </p:sp>
      <p:sp>
        <p:nvSpPr>
          <p:cNvPr id="7" name="Slide Number Placeholder 6"/>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144970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cs-CZ" smtClean="0"/>
              <a:t>Kliknutím lze upravit styl.</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cs-CZ" smtClean="0"/>
              <a:t>Kliknutím lze upravit styly předlohy textu.</a:t>
            </a:r>
          </a:p>
        </p:txBody>
      </p:sp>
      <p:sp>
        <p:nvSpPr>
          <p:cNvPr id="4" name="Content Placeholder 3"/>
          <p:cNvSpPr>
            <a:spLocks noGrp="1"/>
          </p:cNvSpPr>
          <p:nvPr>
            <p:ph sz="half" idx="2"/>
          </p:nvPr>
        </p:nvSpPr>
        <p:spPr>
          <a:xfrm>
            <a:off x="2085368" y="15635264"/>
            <a:ext cx="12807832" cy="22997117"/>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cs-CZ" smtClean="0"/>
              <a:t>Kliknutím lze upravit styly předlohy textu.</a:t>
            </a:r>
          </a:p>
        </p:txBody>
      </p:sp>
      <p:sp>
        <p:nvSpPr>
          <p:cNvPr id="6" name="Content Placeholder 5"/>
          <p:cNvSpPr>
            <a:spLocks noGrp="1"/>
          </p:cNvSpPr>
          <p:nvPr>
            <p:ph sz="quarter" idx="4"/>
          </p:nvPr>
        </p:nvSpPr>
        <p:spPr>
          <a:xfrm>
            <a:off x="15326828" y="15635264"/>
            <a:ext cx="12870909" cy="22997117"/>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7" name="Date Placeholder 6"/>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8" name="Footer Placeholder 7"/>
          <p:cNvSpPr>
            <a:spLocks noGrp="1"/>
          </p:cNvSpPr>
          <p:nvPr>
            <p:ph type="ftr" sz="quarter" idx="11"/>
          </p:nvPr>
        </p:nvSpPr>
        <p:spPr/>
        <p:txBody>
          <a:bodyPr/>
          <a:lstStyle/>
          <a:p>
            <a:endParaRPr lang="cs-CZ" dirty="0"/>
          </a:p>
        </p:txBody>
      </p:sp>
      <p:sp>
        <p:nvSpPr>
          <p:cNvPr id="9" name="Slide Number Placeholder 8"/>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142013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smtClean="0"/>
              <a:t>Kliknutím lze upravit styl.</a:t>
            </a:r>
            <a:endParaRPr lang="en-US" dirty="0"/>
          </a:p>
        </p:txBody>
      </p:sp>
      <p:sp>
        <p:nvSpPr>
          <p:cNvPr id="3" name="Date Placeholder 2"/>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4" name="Footer Placeholder 3"/>
          <p:cNvSpPr>
            <a:spLocks noGrp="1"/>
          </p:cNvSpPr>
          <p:nvPr>
            <p:ph type="ftr" sz="quarter" idx="11"/>
          </p:nvPr>
        </p:nvSpPr>
        <p:spPr/>
        <p:txBody>
          <a:bodyPr/>
          <a:lstStyle/>
          <a:p>
            <a:endParaRPr lang="cs-CZ" dirty="0"/>
          </a:p>
        </p:txBody>
      </p:sp>
      <p:sp>
        <p:nvSpPr>
          <p:cNvPr id="5" name="Slide Number Placeholder 4"/>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4019649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3" name="Footer Placeholder 2"/>
          <p:cNvSpPr>
            <a:spLocks noGrp="1"/>
          </p:cNvSpPr>
          <p:nvPr>
            <p:ph type="ftr" sz="quarter" idx="11"/>
          </p:nvPr>
        </p:nvSpPr>
        <p:spPr/>
        <p:txBody>
          <a:bodyPr/>
          <a:lstStyle/>
          <a:p>
            <a:endParaRPr lang="cs-CZ" dirty="0"/>
          </a:p>
        </p:txBody>
      </p:sp>
      <p:sp>
        <p:nvSpPr>
          <p:cNvPr id="4" name="Slide Number Placeholder 3"/>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156827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cs-CZ" smtClean="0"/>
              <a:t>Kliknutím lze upravit styl.</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cs-CZ" smtClean="0"/>
              <a:t>Kliknutím lze upravit styly předlohy textu.</a:t>
            </a:r>
          </a:p>
        </p:txBody>
      </p:sp>
      <p:sp>
        <p:nvSpPr>
          <p:cNvPr id="5" name="Date Placeholder 4"/>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6" name="Footer Placeholder 5"/>
          <p:cNvSpPr>
            <a:spLocks noGrp="1"/>
          </p:cNvSpPr>
          <p:nvPr>
            <p:ph type="ftr" sz="quarter" idx="11"/>
          </p:nvPr>
        </p:nvSpPr>
        <p:spPr/>
        <p:txBody>
          <a:bodyPr/>
          <a:lstStyle/>
          <a:p>
            <a:endParaRPr lang="cs-CZ" dirty="0"/>
          </a:p>
        </p:txBody>
      </p:sp>
      <p:sp>
        <p:nvSpPr>
          <p:cNvPr id="7" name="Slide Number Placeholder 6"/>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128594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cs-CZ" smtClean="0"/>
              <a:t>Kliknutím lze upravit styl.</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cs-CZ" dirty="0" smtClean="0"/>
              <a:t>Kliknutím na ikonu přidáte obrázek.</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cs-CZ" smtClean="0"/>
              <a:t>Kliknutím lze upravit styly předlohy textu.</a:t>
            </a:r>
          </a:p>
        </p:txBody>
      </p:sp>
      <p:sp>
        <p:nvSpPr>
          <p:cNvPr id="5" name="Date Placeholder 4"/>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6" name="Footer Placeholder 5"/>
          <p:cNvSpPr>
            <a:spLocks noGrp="1"/>
          </p:cNvSpPr>
          <p:nvPr>
            <p:ph type="ftr" sz="quarter" idx="11"/>
          </p:nvPr>
        </p:nvSpPr>
        <p:spPr/>
        <p:txBody>
          <a:bodyPr/>
          <a:lstStyle/>
          <a:p>
            <a:endParaRPr lang="cs-CZ" dirty="0"/>
          </a:p>
        </p:txBody>
      </p:sp>
      <p:sp>
        <p:nvSpPr>
          <p:cNvPr id="7" name="Slide Number Placeholder 6"/>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1608726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smtClean="0"/>
              <a:t>Kliknutím lze upravit styl.</a:t>
            </a:r>
            <a:endParaRPr lang="en-US" dirty="0"/>
          </a:p>
        </p:txBody>
      </p:sp>
      <p:sp>
        <p:nvSpPr>
          <p:cNvPr id="3" name="Vertical Text Placeholder 2"/>
          <p:cNvSpPr>
            <a:spLocks noGrp="1"/>
          </p:cNvSpPr>
          <p:nvPr>
            <p:ph type="body" orient="vert" idx="1"/>
          </p:nvPr>
        </p:nvSpPr>
        <p:spPr/>
        <p:txBody>
          <a:bodyPr vert="eaVert"/>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4" name="Date Placeholder 3"/>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5" name="Footer Placeholder 4"/>
          <p:cNvSpPr>
            <a:spLocks noGrp="1"/>
          </p:cNvSpPr>
          <p:nvPr>
            <p:ph type="ftr" sz="quarter" idx="11"/>
          </p:nvPr>
        </p:nvSpPr>
        <p:spPr/>
        <p:txBody>
          <a:bodyPr/>
          <a:lstStyle/>
          <a:p>
            <a:endParaRPr lang="cs-CZ" dirty="0"/>
          </a:p>
        </p:txBody>
      </p:sp>
      <p:sp>
        <p:nvSpPr>
          <p:cNvPr id="6" name="Slide Number Placeholder 5"/>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991418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cs-CZ" smtClean="0"/>
              <a:t>Kliknutím lze upravit styl.</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4" name="Date Placeholder 3"/>
          <p:cNvSpPr>
            <a:spLocks noGrp="1"/>
          </p:cNvSpPr>
          <p:nvPr>
            <p:ph type="dt" sz="half" idx="10"/>
          </p:nvPr>
        </p:nvSpPr>
        <p:spPr/>
        <p:txBody>
          <a:bodyPr/>
          <a:lstStyle/>
          <a:p>
            <a:fld id="{4335E03D-C4A2-4420-95C1-81A1165C24C5}" type="datetimeFigureOut">
              <a:rPr lang="cs-CZ" smtClean="0"/>
              <a:t>9.6.2015</a:t>
            </a:fld>
            <a:endParaRPr lang="cs-CZ" dirty="0"/>
          </a:p>
        </p:txBody>
      </p:sp>
      <p:sp>
        <p:nvSpPr>
          <p:cNvPr id="5" name="Footer Placeholder 4"/>
          <p:cNvSpPr>
            <a:spLocks noGrp="1"/>
          </p:cNvSpPr>
          <p:nvPr>
            <p:ph type="ftr" sz="quarter" idx="11"/>
          </p:nvPr>
        </p:nvSpPr>
        <p:spPr/>
        <p:txBody>
          <a:bodyPr/>
          <a:lstStyle/>
          <a:p>
            <a:endParaRPr lang="cs-CZ" dirty="0"/>
          </a:p>
        </p:txBody>
      </p:sp>
      <p:sp>
        <p:nvSpPr>
          <p:cNvPr id="6" name="Slide Number Placeholder 5"/>
          <p:cNvSpPr>
            <a:spLocks noGrp="1"/>
          </p:cNvSpPr>
          <p:nvPr>
            <p:ph type="sldNum" sz="quarter" idx="12"/>
          </p:nvPr>
        </p:nvSpPr>
        <p:spPr/>
        <p:txBody>
          <a:bodyPr/>
          <a:lstStyle/>
          <a:p>
            <a:fld id="{3BD52171-8384-42C8-963A-CFAA0AD4781F}" type="slidenum">
              <a:rPr lang="cs-CZ" smtClean="0"/>
              <a:t>‹#›</a:t>
            </a:fld>
            <a:endParaRPr lang="cs-CZ" dirty="0"/>
          </a:p>
        </p:txBody>
      </p:sp>
    </p:spTree>
    <p:extLst>
      <p:ext uri="{BB962C8B-B14F-4D97-AF65-F5344CB8AC3E}">
        <p14:creationId xmlns:p14="http://schemas.microsoft.com/office/powerpoint/2010/main" val="198782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cs-CZ" smtClean="0"/>
              <a:t>Kliknutím lze upravit styl.</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4335E03D-C4A2-4420-95C1-81A1165C24C5}" type="datetimeFigureOut">
              <a:rPr lang="cs-CZ" smtClean="0"/>
              <a:t>9.6.2015</a:t>
            </a:fld>
            <a:endParaRPr lang="cs-CZ" dirty="0"/>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cs-CZ" dirty="0"/>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3BD52171-8384-42C8-963A-CFAA0AD4781F}" type="slidenum">
              <a:rPr lang="cs-CZ" smtClean="0"/>
              <a:t>‹#›</a:t>
            </a:fld>
            <a:endParaRPr lang="cs-CZ" dirty="0"/>
          </a:p>
        </p:txBody>
      </p:sp>
    </p:spTree>
    <p:extLst>
      <p:ext uri="{BB962C8B-B14F-4D97-AF65-F5344CB8AC3E}">
        <p14:creationId xmlns:p14="http://schemas.microsoft.com/office/powerpoint/2010/main" val="34217908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10471101" y="42401385"/>
            <a:ext cx="19862279" cy="450054"/>
          </a:xfrm>
          <a:prstGeom prst="rect">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12413" tIns="206206" rIns="412413" bIns="206206"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cs-CZ" sz="8100" dirty="0">
              <a:latin typeface="Calibri" panose="020F0502020204030204" pitchFamily="34" charset="0"/>
            </a:endParaRPr>
          </a:p>
        </p:txBody>
      </p:sp>
      <p:sp>
        <p:nvSpPr>
          <p:cNvPr id="5" name="Rectangle 9"/>
          <p:cNvSpPr>
            <a:spLocks noChangeArrowheads="1"/>
          </p:cNvSpPr>
          <p:nvPr/>
        </p:nvSpPr>
        <p:spPr bwMode="auto">
          <a:xfrm>
            <a:off x="-57151" y="42401385"/>
            <a:ext cx="12234779" cy="450054"/>
          </a:xfrm>
          <a:prstGeom prst="rect">
            <a:avLst/>
          </a:prstGeom>
          <a:solidFill>
            <a:srgbClr val="96969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12413" tIns="206206" rIns="412413" bIns="206206"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cs-CZ" sz="8100" dirty="0">
              <a:latin typeface="Calibri" panose="020F0502020204030204" pitchFamily="34" charset="0"/>
            </a:endParaRPr>
          </a:p>
        </p:txBody>
      </p:sp>
      <p:sp>
        <p:nvSpPr>
          <p:cNvPr id="6" name="Text Box 10"/>
          <p:cNvSpPr txBox="1">
            <a:spLocks noChangeArrowheads="1"/>
          </p:cNvSpPr>
          <p:nvPr/>
        </p:nvSpPr>
        <p:spPr bwMode="auto">
          <a:xfrm>
            <a:off x="13928298" y="38925488"/>
            <a:ext cx="16119332" cy="138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sz="6300" dirty="0" smtClean="0">
                <a:solidFill>
                  <a:srgbClr val="800080"/>
                </a:solidFill>
                <a:latin typeface="Calibri" panose="020F0502020204030204" pitchFamily="34" charset="0"/>
              </a:rPr>
              <a:t>HUMAN BODY MODELLING AND MONITORING</a:t>
            </a:r>
            <a:endParaRPr lang="cs-CZ" sz="6300" dirty="0">
              <a:solidFill>
                <a:srgbClr val="800080"/>
              </a:solidFill>
              <a:latin typeface="Calibri" panose="020F0502020204030204" pitchFamily="34" charset="0"/>
            </a:endParaRPr>
          </a:p>
        </p:txBody>
      </p:sp>
      <p:sp>
        <p:nvSpPr>
          <p:cNvPr id="7" name="Text Box 11"/>
          <p:cNvSpPr txBox="1">
            <a:spLocks noChangeArrowheads="1"/>
          </p:cNvSpPr>
          <p:nvPr/>
        </p:nvSpPr>
        <p:spPr bwMode="auto">
          <a:xfrm>
            <a:off x="11457990" y="40822649"/>
            <a:ext cx="18909669" cy="110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sz="4500" dirty="0" smtClean="0">
                <a:solidFill>
                  <a:srgbClr val="800080"/>
                </a:solidFill>
                <a:latin typeface="Calibri" panose="020F0502020204030204" pitchFamily="34" charset="0"/>
              </a:rPr>
              <a:t>Assoc</a:t>
            </a:r>
            <a:r>
              <a:rPr lang="cs-CZ" sz="4500" dirty="0" smtClean="0">
                <a:solidFill>
                  <a:srgbClr val="800080"/>
                </a:solidFill>
                <a:latin typeface="Calibri" panose="020F0502020204030204" pitchFamily="34" charset="0"/>
              </a:rPr>
              <a:t>. Prof. </a:t>
            </a:r>
            <a:r>
              <a:rPr lang="cs-CZ" sz="4500" dirty="0">
                <a:solidFill>
                  <a:srgbClr val="800080"/>
                </a:solidFill>
                <a:latin typeface="Calibri" panose="020F0502020204030204" pitchFamily="34" charset="0"/>
              </a:rPr>
              <a:t>Luděk Hynčík, Ph.D. </a:t>
            </a:r>
            <a:r>
              <a:rPr lang="en-US" sz="4500" dirty="0">
                <a:solidFill>
                  <a:srgbClr val="800080"/>
                </a:solidFill>
                <a:latin typeface="Calibri" panose="020F0502020204030204" pitchFamily="34" charset="0"/>
              </a:rPr>
              <a:t>|</a:t>
            </a:r>
            <a:r>
              <a:rPr lang="cs-CZ" sz="4500" dirty="0">
                <a:solidFill>
                  <a:srgbClr val="800080"/>
                </a:solidFill>
                <a:latin typeface="Calibri" panose="020F0502020204030204" pitchFamily="34" charset="0"/>
              </a:rPr>
              <a:t> hyncik</a:t>
            </a:r>
            <a:r>
              <a:rPr lang="en-US" sz="4500" dirty="0">
                <a:solidFill>
                  <a:srgbClr val="800080"/>
                </a:solidFill>
                <a:latin typeface="Calibri" panose="020F0502020204030204" pitchFamily="34" charset="0"/>
              </a:rPr>
              <a:t>@</a:t>
            </a:r>
            <a:r>
              <a:rPr lang="cs-CZ" sz="4500" dirty="0">
                <a:solidFill>
                  <a:srgbClr val="800080"/>
                </a:solidFill>
                <a:latin typeface="Calibri" panose="020F0502020204030204" pitchFamily="34" charset="0"/>
              </a:rPr>
              <a:t>ntc.zcu.cz </a:t>
            </a:r>
            <a:r>
              <a:rPr lang="en-US" sz="4500" dirty="0">
                <a:solidFill>
                  <a:srgbClr val="800080"/>
                </a:solidFill>
                <a:latin typeface="Calibri" panose="020F0502020204030204" pitchFamily="34" charset="0"/>
              </a:rPr>
              <a:t>| </a:t>
            </a:r>
            <a:r>
              <a:rPr lang="cs-CZ" sz="4500" dirty="0">
                <a:solidFill>
                  <a:srgbClr val="800080"/>
                </a:solidFill>
                <a:latin typeface="Calibri" panose="020F0502020204030204" pitchFamily="34" charset="0"/>
              </a:rPr>
              <a:t>Tel.: +420 377 634 709</a:t>
            </a:r>
          </a:p>
        </p:txBody>
      </p:sp>
      <p:sp>
        <p:nvSpPr>
          <p:cNvPr id="8" name="AutoShape 12"/>
          <p:cNvSpPr>
            <a:spLocks noChangeArrowheads="1"/>
          </p:cNvSpPr>
          <p:nvPr/>
        </p:nvSpPr>
        <p:spPr bwMode="auto">
          <a:xfrm rot="5400000">
            <a:off x="12216865" y="39059347"/>
            <a:ext cx="941656" cy="1020128"/>
          </a:xfrm>
          <a:prstGeom prst="triangle">
            <a:avLst>
              <a:gd name="adj" fmla="val 50000"/>
            </a:avLst>
          </a:prstGeom>
          <a:solidFill>
            <a:srgbClr val="8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12413" tIns="206206" rIns="412413" bIns="206206"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cs-CZ" sz="8100" dirty="0">
              <a:latin typeface="Calibri" panose="020F0502020204030204" pitchFamily="34" charset="0"/>
            </a:endParaRPr>
          </a:p>
        </p:txBody>
      </p:sp>
      <p:sp>
        <p:nvSpPr>
          <p:cNvPr id="9" name="Text Box 16"/>
          <p:cNvSpPr txBox="1">
            <a:spLocks noChangeArrowheads="1"/>
          </p:cNvSpPr>
          <p:nvPr/>
        </p:nvSpPr>
        <p:spPr bwMode="auto">
          <a:xfrm>
            <a:off x="-28405" y="38856249"/>
            <a:ext cx="10081260" cy="318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sz="3600" dirty="0" smtClean="0">
                <a:solidFill>
                  <a:srgbClr val="800080"/>
                </a:solidFill>
                <a:latin typeface="Calibri" panose="020F0502020204030204" pitchFamily="34" charset="0"/>
              </a:rPr>
              <a:t>University of West Bohemia</a:t>
            </a:r>
            <a:endParaRPr lang="cs-CZ" sz="3600" dirty="0">
              <a:solidFill>
                <a:srgbClr val="800080"/>
              </a:solidFill>
              <a:latin typeface="Calibri" panose="020F0502020204030204" pitchFamily="34" charset="0"/>
            </a:endParaRPr>
          </a:p>
          <a:p>
            <a:pPr eaLnBrk="1" hangingPunct="1">
              <a:spcBef>
                <a:spcPct val="0"/>
              </a:spcBef>
              <a:buFontTx/>
              <a:buNone/>
            </a:pPr>
            <a:r>
              <a:rPr lang="en-US" sz="3600" dirty="0" smtClean="0">
                <a:solidFill>
                  <a:srgbClr val="800080"/>
                </a:solidFill>
                <a:latin typeface="Calibri" panose="020F0502020204030204" pitchFamily="34" charset="0"/>
              </a:rPr>
              <a:t>New Technologies – Research Centre</a:t>
            </a:r>
            <a:endParaRPr lang="cs-CZ" sz="3600" dirty="0">
              <a:solidFill>
                <a:srgbClr val="800080"/>
              </a:solidFill>
              <a:latin typeface="Calibri" panose="020F0502020204030204" pitchFamily="34" charset="0"/>
            </a:endParaRPr>
          </a:p>
          <a:p>
            <a:pPr eaLnBrk="1" hangingPunct="1">
              <a:spcBef>
                <a:spcPct val="0"/>
              </a:spcBef>
              <a:buFontTx/>
              <a:buNone/>
            </a:pPr>
            <a:r>
              <a:rPr lang="cs-CZ" sz="3600" dirty="0">
                <a:solidFill>
                  <a:srgbClr val="969696"/>
                </a:solidFill>
                <a:latin typeface="Calibri" panose="020F0502020204030204" pitchFamily="34" charset="0"/>
              </a:rPr>
              <a:t>Univerzitní 8, 306 14 </a:t>
            </a:r>
            <a:r>
              <a:rPr lang="cs-CZ" sz="3600" dirty="0" smtClean="0">
                <a:solidFill>
                  <a:srgbClr val="969696"/>
                </a:solidFill>
                <a:latin typeface="Calibri" panose="020F0502020204030204" pitchFamily="34" charset="0"/>
              </a:rPr>
              <a:t>Plzeň</a:t>
            </a:r>
            <a:r>
              <a:rPr lang="en-US" sz="3600" dirty="0" smtClean="0">
                <a:solidFill>
                  <a:srgbClr val="969696"/>
                </a:solidFill>
                <a:latin typeface="Calibri" panose="020F0502020204030204" pitchFamily="34" charset="0"/>
              </a:rPr>
              <a:t>, Czech Republic</a:t>
            </a:r>
            <a:endParaRPr lang="cs-CZ" sz="3600" dirty="0">
              <a:solidFill>
                <a:srgbClr val="969696"/>
              </a:solidFill>
              <a:latin typeface="Calibri" panose="020F0502020204030204" pitchFamily="34" charset="0"/>
            </a:endParaRPr>
          </a:p>
          <a:p>
            <a:pPr eaLnBrk="1" hangingPunct="1">
              <a:spcBef>
                <a:spcPct val="0"/>
              </a:spcBef>
              <a:buFontTx/>
              <a:buNone/>
            </a:pPr>
            <a:r>
              <a:rPr lang="cs-CZ" sz="3600" dirty="0">
                <a:solidFill>
                  <a:srgbClr val="969696"/>
                </a:solidFill>
                <a:latin typeface="Calibri" panose="020F0502020204030204" pitchFamily="34" charset="0"/>
              </a:rPr>
              <a:t>Tel.: </a:t>
            </a:r>
            <a:r>
              <a:rPr lang="en-US" sz="3600" dirty="0" smtClean="0">
                <a:solidFill>
                  <a:srgbClr val="969696"/>
                </a:solidFill>
                <a:latin typeface="Calibri" panose="020F0502020204030204" pitchFamily="34" charset="0"/>
              </a:rPr>
              <a:t>+420 </a:t>
            </a:r>
            <a:r>
              <a:rPr lang="cs-CZ" sz="3600" dirty="0" smtClean="0">
                <a:solidFill>
                  <a:srgbClr val="969696"/>
                </a:solidFill>
                <a:latin typeface="Calibri" panose="020F0502020204030204" pitchFamily="34" charset="0"/>
              </a:rPr>
              <a:t>377 </a:t>
            </a:r>
            <a:r>
              <a:rPr lang="cs-CZ" sz="3600" dirty="0">
                <a:solidFill>
                  <a:srgbClr val="969696"/>
                </a:solidFill>
                <a:latin typeface="Calibri" panose="020F0502020204030204" pitchFamily="34" charset="0"/>
              </a:rPr>
              <a:t>63 4701, fax: </a:t>
            </a:r>
            <a:r>
              <a:rPr lang="en-US" sz="3600" dirty="0" smtClean="0">
                <a:solidFill>
                  <a:srgbClr val="969696"/>
                </a:solidFill>
                <a:latin typeface="Calibri" panose="020F0502020204030204" pitchFamily="34" charset="0"/>
              </a:rPr>
              <a:t>+420 </a:t>
            </a:r>
            <a:r>
              <a:rPr lang="cs-CZ" sz="3600" dirty="0" smtClean="0">
                <a:solidFill>
                  <a:srgbClr val="969696"/>
                </a:solidFill>
                <a:latin typeface="Calibri" panose="020F0502020204030204" pitchFamily="34" charset="0"/>
              </a:rPr>
              <a:t>377 </a:t>
            </a:r>
            <a:r>
              <a:rPr lang="cs-CZ" sz="3600" dirty="0">
                <a:solidFill>
                  <a:srgbClr val="969696"/>
                </a:solidFill>
                <a:latin typeface="Calibri" panose="020F0502020204030204" pitchFamily="34" charset="0"/>
              </a:rPr>
              <a:t>63 4702</a:t>
            </a:r>
          </a:p>
          <a:p>
            <a:pPr eaLnBrk="1" hangingPunct="1">
              <a:spcBef>
                <a:spcPct val="0"/>
              </a:spcBef>
              <a:buFontTx/>
              <a:buNone/>
            </a:pPr>
            <a:r>
              <a:rPr lang="cs-CZ" sz="3600" dirty="0">
                <a:solidFill>
                  <a:srgbClr val="969696"/>
                </a:solidFill>
                <a:latin typeface="Calibri" panose="020F0502020204030204" pitchFamily="34" charset="0"/>
              </a:rPr>
              <a:t>ntc@ntc.zcu.cz, </a:t>
            </a:r>
            <a:r>
              <a:rPr lang="cs-CZ" sz="3600" dirty="0" smtClean="0">
                <a:solidFill>
                  <a:srgbClr val="969696"/>
                </a:solidFill>
                <a:latin typeface="Calibri" panose="020F0502020204030204" pitchFamily="34" charset="0"/>
              </a:rPr>
              <a:t>ntc.zcu.cz</a:t>
            </a:r>
            <a:endParaRPr lang="cs-CZ" sz="3600" dirty="0">
              <a:solidFill>
                <a:srgbClr val="969696"/>
              </a:solidFill>
              <a:latin typeface="Calibri" panose="020F0502020204030204" pitchFamily="34" charset="0"/>
            </a:endParaRPr>
          </a:p>
        </p:txBody>
      </p:sp>
      <p:cxnSp>
        <p:nvCxnSpPr>
          <p:cNvPr id="10" name="Přímá spojnice 9"/>
          <p:cNvCxnSpPr/>
          <p:nvPr/>
        </p:nvCxnSpPr>
        <p:spPr>
          <a:xfrm>
            <a:off x="-63771" y="38504536"/>
            <a:ext cx="30276000" cy="0"/>
          </a:xfrm>
          <a:prstGeom prst="line">
            <a:avLst/>
          </a:prstGeom>
          <a:ln w="50800">
            <a:solidFill>
              <a:srgbClr val="800080"/>
            </a:solidFill>
          </a:ln>
        </p:spPr>
        <p:style>
          <a:lnRef idx="1">
            <a:schemeClr val="accent2"/>
          </a:lnRef>
          <a:fillRef idx="0">
            <a:schemeClr val="accent2"/>
          </a:fillRef>
          <a:effectRef idx="0">
            <a:schemeClr val="accent2"/>
          </a:effectRef>
          <a:fontRef idx="minor">
            <a:schemeClr val="tx1"/>
          </a:fontRef>
        </p:style>
      </p:cxnSp>
      <p:pic>
        <p:nvPicPr>
          <p:cNvPr id="12" name="Picture 5" descr="D:\Prace\Dokumenty\NTC\PR\JVS\Loga\NTC\logoNTCen.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814099" y="59732"/>
            <a:ext cx="6447695" cy="3582103"/>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4"/>
          <p:cNvSpPr txBox="1">
            <a:spLocks noChangeArrowheads="1"/>
          </p:cNvSpPr>
          <p:nvPr/>
        </p:nvSpPr>
        <p:spPr bwMode="auto">
          <a:xfrm>
            <a:off x="863874" y="945045"/>
            <a:ext cx="23004014" cy="1647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914400" fontAlgn="base">
              <a:spcBef>
                <a:spcPct val="0"/>
              </a:spcBef>
              <a:spcAft>
                <a:spcPct val="0"/>
              </a:spcAft>
              <a:buFontTx/>
              <a:buNone/>
            </a:pPr>
            <a:r>
              <a:rPr lang="en-US" sz="7999" b="1" dirty="0">
                <a:solidFill>
                  <a:srgbClr val="000000"/>
                </a:solidFill>
                <a:latin typeface="Arial"/>
              </a:rPr>
              <a:t>SPHCOFEM: Solver for coupling SPH and FE</a:t>
            </a:r>
            <a:endParaRPr lang="cs-CZ" sz="7999" dirty="0">
              <a:solidFill>
                <a:srgbClr val="000000"/>
              </a:solidFill>
              <a:latin typeface="Arial"/>
            </a:endParaRPr>
          </a:p>
        </p:txBody>
      </p:sp>
      <p:sp>
        <p:nvSpPr>
          <p:cNvPr id="14" name="Text Box 4"/>
          <p:cNvSpPr txBox="1">
            <a:spLocks noChangeArrowheads="1"/>
          </p:cNvSpPr>
          <p:nvPr/>
        </p:nvSpPr>
        <p:spPr bwMode="auto">
          <a:xfrm>
            <a:off x="226" y="2592591"/>
            <a:ext cx="23867661" cy="2940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914400" fontAlgn="base">
              <a:spcBef>
                <a:spcPct val="0"/>
              </a:spcBef>
              <a:spcAft>
                <a:spcPct val="0"/>
              </a:spcAft>
              <a:buFontTx/>
              <a:buNone/>
            </a:pPr>
            <a:r>
              <a:rPr lang="cs-CZ" sz="4400" b="1" dirty="0">
                <a:solidFill>
                  <a:srgbClr val="000000"/>
                </a:solidFill>
                <a:latin typeface="Arial"/>
              </a:rPr>
              <a:t>Luděk </a:t>
            </a:r>
            <a:r>
              <a:rPr lang="en-US" sz="4400" b="1" dirty="0">
                <a:solidFill>
                  <a:srgbClr val="000000"/>
                </a:solidFill>
                <a:latin typeface="Arial"/>
              </a:rPr>
              <a:t>Hynčík</a:t>
            </a:r>
            <a:endParaRPr lang="cs-CZ" sz="4400" b="1" dirty="0">
              <a:solidFill>
                <a:srgbClr val="000000"/>
              </a:solidFill>
              <a:latin typeface="Arial"/>
            </a:endParaRPr>
          </a:p>
          <a:p>
            <a:pPr algn="ctr" defTabSz="914400" fontAlgn="base">
              <a:spcBef>
                <a:spcPct val="0"/>
              </a:spcBef>
              <a:spcAft>
                <a:spcPct val="0"/>
              </a:spcAft>
              <a:buFontTx/>
              <a:buNone/>
            </a:pPr>
            <a:r>
              <a:rPr lang="cs-CZ" sz="4000" b="1" dirty="0">
                <a:solidFill>
                  <a:srgbClr val="000000"/>
                </a:solidFill>
                <a:latin typeface="Arial"/>
              </a:rPr>
              <a:t>New Technologies – Research Centre</a:t>
            </a:r>
            <a:r>
              <a:rPr lang="en-US" sz="4000" b="1" dirty="0">
                <a:solidFill>
                  <a:srgbClr val="000000"/>
                </a:solidFill>
                <a:latin typeface="Arial"/>
              </a:rPr>
              <a:t>, </a:t>
            </a:r>
            <a:r>
              <a:rPr lang="cs-CZ" sz="4000" b="1" dirty="0">
                <a:solidFill>
                  <a:srgbClr val="000000"/>
                </a:solidFill>
                <a:latin typeface="Arial"/>
              </a:rPr>
              <a:t>University of West Bohemia</a:t>
            </a:r>
            <a:endParaRPr lang="en-US" sz="4000" b="1" dirty="0">
              <a:solidFill>
                <a:srgbClr val="000000"/>
              </a:solidFill>
              <a:latin typeface="Arial"/>
            </a:endParaRPr>
          </a:p>
          <a:p>
            <a:pPr algn="ctr" defTabSz="914400" fontAlgn="base">
              <a:spcBef>
                <a:spcPct val="0"/>
              </a:spcBef>
              <a:spcAft>
                <a:spcPct val="0"/>
              </a:spcAft>
              <a:buFontTx/>
              <a:buNone/>
            </a:pPr>
            <a:r>
              <a:rPr lang="en-US" sz="4000" dirty="0">
                <a:solidFill>
                  <a:srgbClr val="000000"/>
                </a:solidFill>
                <a:latin typeface="Arial"/>
              </a:rPr>
              <a:t>7</a:t>
            </a:r>
            <a:r>
              <a:rPr lang="en-US" sz="4000" baseline="30000" dirty="0">
                <a:solidFill>
                  <a:srgbClr val="000000"/>
                </a:solidFill>
                <a:latin typeface="Arial"/>
              </a:rPr>
              <a:t>th</a:t>
            </a:r>
            <a:r>
              <a:rPr lang="en-US" sz="4000" dirty="0">
                <a:solidFill>
                  <a:srgbClr val="000000"/>
                </a:solidFill>
                <a:latin typeface="Arial"/>
              </a:rPr>
              <a:t> WACBE World Congress on Bioengineering 2015</a:t>
            </a:r>
          </a:p>
          <a:p>
            <a:pPr algn="ctr" defTabSz="914400" fontAlgn="base">
              <a:spcBef>
                <a:spcPct val="0"/>
              </a:spcBef>
              <a:spcAft>
                <a:spcPct val="0"/>
              </a:spcAft>
              <a:buFontTx/>
              <a:buNone/>
            </a:pPr>
            <a:r>
              <a:rPr lang="en-US" sz="4000" dirty="0">
                <a:solidFill>
                  <a:srgbClr val="000000"/>
                </a:solidFill>
                <a:latin typeface="Arial"/>
              </a:rPr>
              <a:t>6 – 8 July 2015, Singapore</a:t>
            </a:r>
            <a:endParaRPr lang="cs-CZ" sz="4000" dirty="0">
              <a:solidFill>
                <a:srgbClr val="000000"/>
              </a:solidFill>
              <a:latin typeface="Arial"/>
            </a:endParaRPr>
          </a:p>
        </p:txBody>
      </p:sp>
      <p:sp>
        <p:nvSpPr>
          <p:cNvPr id="16" name="Text Box 4"/>
          <p:cNvSpPr txBox="1">
            <a:spLocks noChangeArrowheads="1"/>
          </p:cNvSpPr>
          <p:nvPr/>
        </p:nvSpPr>
        <p:spPr bwMode="auto">
          <a:xfrm>
            <a:off x="22384332" y="3227232"/>
            <a:ext cx="6851729" cy="1093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914400" fontAlgn="base">
              <a:spcBef>
                <a:spcPct val="0"/>
              </a:spcBef>
              <a:spcAft>
                <a:spcPct val="0"/>
              </a:spcAft>
              <a:buFontTx/>
              <a:buNone/>
            </a:pPr>
            <a:r>
              <a:rPr lang="cs-CZ" sz="4400" b="1" dirty="0" smtClean="0">
                <a:solidFill>
                  <a:srgbClr val="000000"/>
                </a:solidFill>
                <a:latin typeface="Arial"/>
              </a:rPr>
              <a:t>Paper ID 13</a:t>
            </a:r>
            <a:endParaRPr lang="cs-CZ" sz="4000" dirty="0">
              <a:solidFill>
                <a:srgbClr val="000000"/>
              </a:solidFill>
              <a:latin typeface="Arial"/>
            </a:endParaRPr>
          </a:p>
        </p:txBody>
      </p:sp>
      <mc:AlternateContent xmlns:mc="http://schemas.openxmlformats.org/markup-compatibility/2006">
        <mc:Choice xmlns:a14="http://schemas.microsoft.com/office/drawing/2010/main" Requires="a14">
          <p:sp>
            <p:nvSpPr>
              <p:cNvPr id="17" name="Text Box 5"/>
              <p:cNvSpPr txBox="1">
                <a:spLocks noChangeArrowheads="1"/>
              </p:cNvSpPr>
              <p:nvPr/>
            </p:nvSpPr>
            <p:spPr bwMode="auto">
              <a:xfrm>
                <a:off x="85797" y="5400900"/>
                <a:ext cx="15120912" cy="3396408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Arial"/>
                  </a:rPr>
                  <a:t>Motivation</a:t>
                </a:r>
                <a:endParaRPr kumimoji="0" lang="cs-CZ" sz="4000" b="1"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smtClean="0">
                    <a:ln>
                      <a:noFill/>
                    </a:ln>
                    <a:solidFill>
                      <a:srgbClr val="000000"/>
                    </a:solidFill>
                    <a:effectLst/>
                    <a:uLnTx/>
                    <a:uFillTx/>
                    <a:latin typeface="Arial"/>
                  </a:rPr>
                  <a:t>Modelling </a:t>
                </a:r>
                <a:r>
                  <a:rPr kumimoji="0" lang="en-US" sz="4000" b="0" i="0" u="none" strike="noStrike" kern="0" cap="none" spc="0" normalizeH="0" baseline="0" noProof="0" dirty="0">
                    <a:ln>
                      <a:noFill/>
                    </a:ln>
                    <a:solidFill>
                      <a:srgbClr val="000000"/>
                    </a:solidFill>
                    <a:effectLst/>
                    <a:uLnTx/>
                    <a:uFillTx/>
                    <a:latin typeface="Arial"/>
                  </a:rPr>
                  <a:t>of fluid flow is extremely important in many technical fields including energetics or automotive, but also in many </a:t>
                </a:r>
                <a:r>
                  <a:rPr kumimoji="0" lang="en-US" sz="4000" b="0" i="0" u="none" strike="noStrike" kern="0" cap="none" spc="0" normalizeH="0" baseline="0" noProof="0" dirty="0" smtClean="0">
                    <a:ln>
                      <a:noFill/>
                    </a:ln>
                    <a:solidFill>
                      <a:srgbClr val="000000"/>
                    </a:solidFill>
                    <a:effectLst/>
                    <a:uLnTx/>
                    <a:uFillTx/>
                    <a:latin typeface="Arial"/>
                  </a:rPr>
                  <a:t>fields </a:t>
                </a:r>
                <a:r>
                  <a:rPr kumimoji="0" lang="en-US" sz="4000" b="0" i="0" u="none" strike="noStrike" kern="0" cap="none" spc="0" normalizeH="0" baseline="0" noProof="0" dirty="0">
                    <a:ln>
                      <a:noFill/>
                    </a:ln>
                    <a:solidFill>
                      <a:srgbClr val="000000"/>
                    </a:solidFill>
                    <a:effectLst/>
                    <a:uLnTx/>
                    <a:uFillTx/>
                    <a:latin typeface="Arial"/>
                  </a:rPr>
                  <a:t>of public interest such as biomechanics, bioengineering and clinical applications. Virtual prototyping approach is a standard way to design final products.</a:t>
                </a: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Arial" panose="020B0604020202020204" pitchFamily="34" charset="0"/>
                  </a:rPr>
                  <a:t>Method</a:t>
                </a:r>
                <a:endParaRPr kumimoji="0" lang="cs-CZ" sz="40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a:rPr>
                  <a:t>The base of the smoothed particle hydrodynamics (SPH) is interpolation theory using </a:t>
                </a:r>
                <a:r>
                  <a:rPr kumimoji="0" lang="en-US" sz="4000" b="0" i="0" u="none" strike="noStrike" kern="0" cap="none" spc="0" normalizeH="0" baseline="0" noProof="0" dirty="0" smtClean="0">
                    <a:ln>
                      <a:noFill/>
                    </a:ln>
                    <a:solidFill>
                      <a:srgbClr val="000000"/>
                    </a:solidFill>
                    <a:effectLst/>
                    <a:uLnTx/>
                    <a:uFillTx/>
                    <a:latin typeface="Arial"/>
                  </a:rPr>
                  <a:t>kernel defined as</a:t>
                </a: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a:rPr>
                  <a:t>The kernel estimate of physical field value </a:t>
                </a:r>
                <a:r>
                  <a:rPr kumimoji="0" lang="en-US" sz="4000" b="0" i="1" u="none" strike="noStrike" kern="0" cap="none" spc="0" normalizeH="0" baseline="0" noProof="0" dirty="0">
                    <a:ln>
                      <a:noFill/>
                    </a:ln>
                    <a:solidFill>
                      <a:srgbClr val="000000"/>
                    </a:solidFill>
                    <a:effectLst/>
                    <a:uLnTx/>
                    <a:uFillTx/>
                    <a:latin typeface="Arial"/>
                  </a:rPr>
                  <a:t>A</a:t>
                </a:r>
                <a:r>
                  <a:rPr kumimoji="0" lang="en-US" sz="4000" b="0" i="0" u="none" strike="noStrike" kern="0" cap="none" spc="0" normalizeH="0" baseline="0" noProof="0" dirty="0">
                    <a:ln>
                      <a:noFill/>
                    </a:ln>
                    <a:solidFill>
                      <a:srgbClr val="000000"/>
                    </a:solidFill>
                    <a:effectLst/>
                    <a:uLnTx/>
                    <a:uFillTx/>
                    <a:latin typeface="Arial"/>
                  </a:rPr>
                  <a:t>(</a:t>
                </a:r>
                <a:r>
                  <a:rPr kumimoji="0" lang="en-US" sz="4000" b="1" i="0" u="none" strike="noStrike" kern="0" cap="none" spc="0" normalizeH="0" baseline="0" noProof="0" dirty="0">
                    <a:ln>
                      <a:noFill/>
                    </a:ln>
                    <a:solidFill>
                      <a:srgbClr val="000000"/>
                    </a:solidFill>
                    <a:effectLst/>
                    <a:uLnTx/>
                    <a:uFillTx/>
                    <a:latin typeface="Arial"/>
                  </a:rPr>
                  <a:t>r</a:t>
                </a:r>
                <a:r>
                  <a:rPr kumimoji="0" lang="en-US" sz="4000" b="0" i="0" u="none" strike="noStrike" kern="0" cap="none" spc="0" normalizeH="0" baseline="0" noProof="0" dirty="0">
                    <a:ln>
                      <a:noFill/>
                    </a:ln>
                    <a:solidFill>
                      <a:srgbClr val="000000"/>
                    </a:solidFill>
                    <a:effectLst/>
                    <a:uLnTx/>
                    <a:uFillTx/>
                    <a:latin typeface="Arial"/>
                  </a:rPr>
                  <a:t>) is defined by</a:t>
                </a: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a:rPr>
                  <a:t> </a:t>
                </a: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a:rPr>
                  <a:t>considering values of physical field </a:t>
                </a:r>
                <a:r>
                  <a:rPr kumimoji="0" lang="en-US" sz="4000" b="0" i="1" u="none" strike="noStrike" kern="0" cap="none" spc="0" normalizeH="0" baseline="0" noProof="0" dirty="0">
                    <a:ln>
                      <a:noFill/>
                    </a:ln>
                    <a:solidFill>
                      <a:srgbClr val="000000"/>
                    </a:solidFill>
                    <a:effectLst/>
                    <a:uLnTx/>
                    <a:uFillTx/>
                    <a:latin typeface="Arial"/>
                  </a:rPr>
                  <a:t>A</a:t>
                </a:r>
                <a:r>
                  <a:rPr kumimoji="0" lang="en-US" sz="4000" b="0" i="0" u="none" strike="noStrike" kern="0" cap="none" spc="0" normalizeH="0" baseline="0" noProof="0" dirty="0">
                    <a:ln>
                      <a:noFill/>
                    </a:ln>
                    <a:solidFill>
                      <a:srgbClr val="000000"/>
                    </a:solidFill>
                    <a:effectLst/>
                    <a:uLnTx/>
                    <a:uFillTx/>
                    <a:latin typeface="Arial"/>
                  </a:rPr>
                  <a:t>(</a:t>
                </a:r>
                <a:r>
                  <a:rPr kumimoji="0" lang="en-US" sz="4000" b="1" i="0" u="none" strike="noStrike" kern="0" cap="none" spc="0" normalizeH="0" baseline="0" noProof="0" dirty="0">
                    <a:ln>
                      <a:noFill/>
                    </a:ln>
                    <a:solidFill>
                      <a:srgbClr val="000000"/>
                    </a:solidFill>
                    <a:effectLst/>
                    <a:uLnTx/>
                    <a:uFillTx/>
                    <a:latin typeface="Arial"/>
                  </a:rPr>
                  <a:t>r</a:t>
                </a:r>
                <a:r>
                  <a:rPr kumimoji="0" lang="en-US" sz="4000" b="0" i="0" u="none" strike="noStrike" kern="0" cap="none" spc="0" normalizeH="0" baseline="0" noProof="0" dirty="0">
                    <a:ln>
                      <a:noFill/>
                    </a:ln>
                    <a:solidFill>
                      <a:srgbClr val="000000"/>
                    </a:solidFill>
                    <a:effectLst/>
                    <a:uLnTx/>
                    <a:uFillTx/>
                    <a:latin typeface="Arial"/>
                  </a:rPr>
                  <a:t>) known on a set of N discrete points given by position vectors and masses. The equations of motion (EOM) together with the equation of state (EOS) form the system to be </a:t>
                </a:r>
                <a:r>
                  <a:rPr kumimoji="0" lang="en-US" sz="4000" b="0" i="0" u="none" strike="noStrike" kern="0" cap="none" spc="0" normalizeH="0" baseline="0" noProof="0" dirty="0" smtClean="0">
                    <a:ln>
                      <a:noFill/>
                    </a:ln>
                    <a:solidFill>
                      <a:srgbClr val="000000"/>
                    </a:solidFill>
                    <a:effectLst/>
                    <a:uLnTx/>
                    <a:uFillTx/>
                    <a:latin typeface="Arial"/>
                  </a:rPr>
                  <a:t>solved:</a:t>
                </a: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a:rPr>
                  <a:t>SPH depends on fast techniques for finding the neighboring particles that contributes to the summations. Nearest neighbor search (NNS) is also the main issue related to the complexity and time use of the SPH </a:t>
                </a:r>
                <a:r>
                  <a:rPr kumimoji="0" lang="en-US" sz="4000" b="0" i="0" u="none" strike="noStrike" kern="0" cap="none" spc="0" normalizeH="0" baseline="0" noProof="0" dirty="0" smtClean="0">
                    <a:ln>
                      <a:noFill/>
                    </a:ln>
                    <a:solidFill>
                      <a:srgbClr val="000000"/>
                    </a:solidFill>
                    <a:effectLst/>
                    <a:uLnTx/>
                    <a:uFillTx/>
                    <a:latin typeface="Arial"/>
                  </a:rPr>
                  <a:t>calculation and concerns:</a:t>
                </a:r>
                <a:endParaRPr kumimoji="0" lang="en-US" sz="4000" b="0" i="0" u="none" strike="noStrike" kern="0" cap="none" spc="0" normalizeH="0" baseline="0" noProof="0" dirty="0">
                  <a:ln>
                    <a:noFill/>
                  </a:ln>
                  <a:solidFill>
                    <a:srgbClr val="000000"/>
                  </a:solidFill>
                  <a:effectLst/>
                  <a:uLnTx/>
                  <a:uFillTx/>
                  <a:latin typeface="Arial"/>
                </a:endParaRPr>
              </a:p>
              <a:p>
                <a:pPr marL="571489" marR="0" lvl="0" indent="-571489" algn="just" defTabSz="914400" eaLnBrk="1" fontAlgn="base" latinLnBrk="0" hangingPunct="1">
                  <a:lnSpc>
                    <a:spcPct val="100000"/>
                  </a:lnSpc>
                  <a:spcBef>
                    <a:spcPct val="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a:rPr>
                  <a:t>To assess all pairs of particles (N</a:t>
                </a:r>
                <a:r>
                  <a:rPr kumimoji="0" lang="en-US" sz="4000" b="0" i="0" u="none" strike="noStrike" kern="0" cap="none" spc="0" normalizeH="0" baseline="30000" noProof="0" dirty="0">
                    <a:ln>
                      <a:noFill/>
                    </a:ln>
                    <a:solidFill>
                      <a:srgbClr val="000000"/>
                    </a:solidFill>
                    <a:effectLst/>
                    <a:uLnTx/>
                    <a:uFillTx/>
                    <a:latin typeface="Arial"/>
                  </a:rPr>
                  <a:t>2</a:t>
                </a:r>
                <a:r>
                  <a:rPr kumimoji="0" lang="en-US" sz="4000" b="0" i="0" u="none" strike="noStrike" kern="0" cap="none" spc="0" normalizeH="0" baseline="0" noProof="0" dirty="0">
                    <a:ln>
                      <a:noFill/>
                    </a:ln>
                    <a:solidFill>
                      <a:srgbClr val="000000"/>
                    </a:solidFill>
                    <a:effectLst/>
                    <a:uLnTx/>
                    <a:uFillTx/>
                    <a:latin typeface="Arial"/>
                  </a:rPr>
                  <a:t>).</a:t>
                </a:r>
              </a:p>
              <a:p>
                <a:pPr marL="571489" marR="0" lvl="0" indent="-571489" algn="just" defTabSz="914400" eaLnBrk="1" fontAlgn="base" latinLnBrk="0" hangingPunct="1">
                  <a:lnSpc>
                    <a:spcPct val="100000"/>
                  </a:lnSpc>
                  <a:spcBef>
                    <a:spcPct val="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a:rPr>
                  <a:t>To compose particles into sub-sets (subs).</a:t>
                </a: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a:rPr>
                  <a:t>The Lagrange’s equations are used to develop EOM for the boundary elements based on the finite element method (FEM).</a:t>
                </a: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a:rPr>
                  <a:t>The contact between SPH and FE concerns penalty method and automatic force calculation. The stable time step scheme taking into account the Courant-Friedrichs-Lewy conditions for SPH and stability condition for FEM is </a:t>
                </a:r>
                <a:r>
                  <a:rPr kumimoji="0" lang="en-US" sz="4000" b="0" i="0" u="none" strike="noStrike" kern="0" cap="none" spc="0" normalizeH="0" baseline="0" noProof="0" dirty="0" smtClean="0">
                    <a:ln>
                      <a:noFill/>
                    </a:ln>
                    <a:solidFill>
                      <a:srgbClr val="000000"/>
                    </a:solidFill>
                    <a:effectLst/>
                    <a:uLnTx/>
                    <a:uFillTx/>
                    <a:latin typeface="Arial"/>
                  </a:rPr>
                  <a:t>applied:</a:t>
                </a: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X-SPH with the constant </a:t>
                </a:r>
                <a14:m>
                  <m:oMath xmlns:m="http://schemas.openxmlformats.org/officeDocument/2006/math">
                    <m:r>
                      <a:rPr kumimoji="0" lang="en-US" sz="4000" b="0" i="1" u="none" strike="noStrike" kern="0" cap="none" spc="0" normalizeH="0" baseline="0" noProof="0">
                        <a:ln>
                          <a:noFill/>
                        </a:ln>
                        <a:solidFill>
                          <a:srgbClr val="000000"/>
                        </a:solidFill>
                        <a:effectLst/>
                        <a:uLnTx/>
                        <a:uFillTx/>
                        <a:latin typeface="Cambria Math"/>
                      </a:rPr>
                      <m:t>𝜀</m:t>
                    </m:r>
                  </m:oMath>
                </a14:m>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 between 0 and 1 improves the quality of </a:t>
                </a:r>
                <a:r>
                  <a:rPr kumimoji="0" lang="en-US" sz="4000" b="0" i="0" u="none" strike="noStrike" kern="0" cap="none" spc="0" normalizeH="0" baseline="0" noProof="0" dirty="0" smtClean="0">
                    <a:ln>
                      <a:noFill/>
                    </a:ln>
                    <a:solidFill>
                      <a:srgbClr val="000000"/>
                    </a:solidFill>
                    <a:effectLst/>
                    <a:uLnTx/>
                    <a:uFillTx/>
                    <a:latin typeface="Arial" panose="020B0604020202020204" pitchFamily="34" charset="0"/>
                  </a:rPr>
                  <a:t>results:</a:t>
                </a:r>
                <a:endParaRPr kumimoji="0" lang="en-US" sz="4000" b="0"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Both EOM for SPH and FE are implemented using C++ and MATLAB to </a:t>
                </a:r>
                <a:r>
                  <a:rPr kumimoji="0" lang="en-US" sz="4000" b="0" i="0" u="none" strike="noStrike" kern="0" cap="none" spc="0" normalizeH="0" baseline="0" noProof="0" dirty="0" smtClean="0">
                    <a:ln>
                      <a:noFill/>
                    </a:ln>
                    <a:solidFill>
                      <a:srgbClr val="000000"/>
                    </a:solidFill>
                    <a:effectLst/>
                    <a:uLnTx/>
                    <a:uFillTx/>
                    <a:latin typeface="Arial" panose="020B0604020202020204" pitchFamily="34" charset="0"/>
                  </a:rPr>
                  <a:t>the single SPHCOFEM </a:t>
                </a: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algorithm:</a:t>
                </a:r>
              </a:p>
              <a:p>
                <a:pPr marL="571489" marR="0" lvl="0" indent="-571489" algn="just" defTabSz="914400" eaLnBrk="1" fontAlgn="base" latinLnBrk="0" hangingPunct="1">
                  <a:lnSpc>
                    <a:spcPct val="100000"/>
                  </a:lnSpc>
                  <a:spcBef>
                    <a:spcPct val="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SPH: the central acceleration method</a:t>
                </a:r>
              </a:p>
              <a:p>
                <a:pPr marL="571489" marR="0" lvl="0" indent="-571489" algn="just" defTabSz="914400" eaLnBrk="1" fontAlgn="base" latinLnBrk="0" hangingPunct="1">
                  <a:lnSpc>
                    <a:spcPct val="100000"/>
                  </a:lnSpc>
                  <a:spcBef>
                    <a:spcPct val="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FE: conjugate gradient method</a:t>
                </a:r>
              </a:p>
            </p:txBody>
          </p:sp>
        </mc:Choice>
        <mc:Fallback>
          <p:sp>
            <p:nvSpPr>
              <p:cNvPr id="17" name="Text Box 5"/>
              <p:cNvSpPr txBox="1">
                <a:spLocks noRot="1" noChangeAspect="1" noMove="1" noResize="1" noEditPoints="1" noAdjustHandles="1" noChangeArrowheads="1" noChangeShapeType="1" noTextEdit="1"/>
              </p:cNvSpPr>
              <p:nvPr/>
            </p:nvSpPr>
            <p:spPr bwMode="auto">
              <a:xfrm>
                <a:off x="85797" y="5400900"/>
                <a:ext cx="15120912" cy="33964085"/>
              </a:xfrm>
              <a:prstGeom prst="rect">
                <a:avLst/>
              </a:prstGeom>
              <a:blipFill rotWithShape="1">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cs-CZ">
                    <a:noFill/>
                  </a:rPr>
                  <a:t> </a:t>
                </a:r>
              </a:p>
            </p:txBody>
          </p:sp>
        </mc:Fallback>
      </mc:AlternateContent>
      <mc:AlternateContent xmlns:mc="http://schemas.openxmlformats.org/markup-compatibility/2006">
        <mc:Choice xmlns:a14="http://schemas.microsoft.com/office/drawing/2010/main" Requires="a14">
          <p:sp>
            <p:nvSpPr>
              <p:cNvPr id="18" name="Obdélník 17"/>
              <p:cNvSpPr/>
              <p:nvPr/>
            </p:nvSpPr>
            <p:spPr>
              <a:xfrm>
                <a:off x="4927040" y="11884019"/>
                <a:ext cx="4965843" cy="894219"/>
              </a:xfrm>
              <a:prstGeom prst="rect">
                <a:avLst/>
              </a:prstGeom>
            </p:spPr>
            <p:txBody>
              <a:bodyPr wrap="square">
                <a:spAutoFit/>
              </a:bodyPr>
              <a:lstStyle/>
              <a:p>
                <a:pPr defTabSz="914400" eaLnBrk="0" fontAlgn="base" hangingPunct="0">
                  <a:spcBef>
                    <a:spcPct val="0"/>
                  </a:spcBef>
                  <a:spcAft>
                    <a:spcPct val="0"/>
                  </a:spcAft>
                </a:pPr>
                <a14:m>
                  <m:oMath xmlns:m="http://schemas.openxmlformats.org/officeDocument/2006/math">
                    <m:func>
                      <m:funcPr>
                        <m:ctrlPr>
                          <a:rPr lang="cs-CZ" sz="4000" i="1">
                            <a:solidFill>
                              <a:srgbClr val="000000"/>
                            </a:solidFill>
                            <a:latin typeface="Cambria Math"/>
                          </a:rPr>
                        </m:ctrlPr>
                      </m:funcPr>
                      <m:fName>
                        <m:limLow>
                          <m:limLowPr>
                            <m:ctrlPr>
                              <a:rPr lang="cs-CZ" sz="4000" i="1">
                                <a:solidFill>
                                  <a:srgbClr val="000000"/>
                                </a:solidFill>
                                <a:latin typeface="Cambria Math"/>
                              </a:rPr>
                            </m:ctrlPr>
                          </m:limLowPr>
                          <m:e>
                            <m:r>
                              <m:rPr>
                                <m:sty m:val="p"/>
                              </m:rPr>
                              <a:rPr lang="cs-CZ" sz="4000">
                                <a:solidFill>
                                  <a:srgbClr val="000000"/>
                                </a:solidFill>
                                <a:latin typeface="Cambria Math" panose="02040503050406030204" pitchFamily="18" charset="0"/>
                              </a:rPr>
                              <m:t>lim</m:t>
                            </m:r>
                          </m:e>
                          <m:lim>
                            <m:r>
                              <a:rPr lang="cs-CZ" sz="4000" i="1">
                                <a:solidFill>
                                  <a:srgbClr val="000000"/>
                                </a:solidFill>
                                <a:latin typeface="Cambria Math" panose="02040503050406030204" pitchFamily="18" charset="0"/>
                              </a:rPr>
                              <m:t>h</m:t>
                            </m:r>
                            <m:r>
                              <a:rPr lang="cs-CZ" sz="4000">
                                <a:solidFill>
                                  <a:srgbClr val="000000"/>
                                </a:solidFill>
                                <a:latin typeface="Cambria Math" panose="02040503050406030204" pitchFamily="18" charset="0"/>
                              </a:rPr>
                              <m:t>→0</m:t>
                            </m:r>
                          </m:lim>
                        </m:limLow>
                      </m:fName>
                      <m:e>
                        <m:r>
                          <a:rPr lang="cs-CZ" sz="4000" i="1">
                            <a:solidFill>
                              <a:srgbClr val="000000"/>
                            </a:solidFill>
                            <a:latin typeface="Cambria Math" panose="02040503050406030204" pitchFamily="18" charset="0"/>
                          </a:rPr>
                          <m:t>𝑤</m:t>
                        </m:r>
                        <m:d>
                          <m:dPr>
                            <m:ctrlPr>
                              <a:rPr lang="cs-CZ" sz="4000" i="1">
                                <a:solidFill>
                                  <a:srgbClr val="000000"/>
                                </a:solidFill>
                                <a:latin typeface="Cambria Math"/>
                              </a:rPr>
                            </m:ctrlPr>
                          </m:dPr>
                          <m:e>
                            <m:r>
                              <a:rPr lang="cs-CZ" sz="4000" b="1">
                                <a:solidFill>
                                  <a:srgbClr val="000000"/>
                                </a:solidFill>
                                <a:latin typeface="Cambria Math" panose="02040503050406030204" pitchFamily="18" charset="0"/>
                              </a:rPr>
                              <m:t>𝐫</m:t>
                            </m:r>
                            <m:r>
                              <a:rPr lang="cs-CZ" sz="4000">
                                <a:solidFill>
                                  <a:srgbClr val="000000"/>
                                </a:solidFill>
                                <a:latin typeface="Cambria Math" panose="02040503050406030204" pitchFamily="18" charset="0"/>
                              </a:rPr>
                              <m:t>,</m:t>
                            </m:r>
                            <m:r>
                              <a:rPr lang="cs-CZ" sz="4000" i="1">
                                <a:solidFill>
                                  <a:srgbClr val="000000"/>
                                </a:solidFill>
                                <a:latin typeface="Cambria Math" panose="02040503050406030204" pitchFamily="18" charset="0"/>
                              </a:rPr>
                              <m:t>h</m:t>
                            </m:r>
                          </m:e>
                        </m:d>
                        <m:r>
                          <a:rPr lang="cs-CZ" sz="4000">
                            <a:solidFill>
                              <a:srgbClr val="000000"/>
                            </a:solidFill>
                            <a:latin typeface="Cambria Math" panose="02040503050406030204" pitchFamily="18" charset="0"/>
                          </a:rPr>
                          <m:t>=</m:t>
                        </m:r>
                        <m:r>
                          <a:rPr lang="cs-CZ" sz="4000" i="1">
                            <a:solidFill>
                              <a:srgbClr val="000000"/>
                            </a:solidFill>
                            <a:latin typeface="Cambria Math" panose="02040503050406030204" pitchFamily="18" charset="0"/>
                          </a:rPr>
                          <m:t>𝛿</m:t>
                        </m:r>
                        <m:d>
                          <m:dPr>
                            <m:ctrlPr>
                              <a:rPr lang="cs-CZ" sz="4000" i="1">
                                <a:solidFill>
                                  <a:srgbClr val="000000"/>
                                </a:solidFill>
                                <a:latin typeface="Cambria Math"/>
                              </a:rPr>
                            </m:ctrlPr>
                          </m:dPr>
                          <m:e>
                            <m:r>
                              <a:rPr lang="cs-CZ" sz="4000" b="1">
                                <a:solidFill>
                                  <a:srgbClr val="000000"/>
                                </a:solidFill>
                                <a:latin typeface="Cambria Math" panose="02040503050406030204" pitchFamily="18" charset="0"/>
                              </a:rPr>
                              <m:t>𝐫</m:t>
                            </m:r>
                          </m:e>
                        </m:d>
                      </m:e>
                    </m:func>
                  </m:oMath>
                </a14:m>
                <a:r>
                  <a:rPr lang="en-US" sz="4000" dirty="0" smtClean="0">
                    <a:solidFill>
                      <a:srgbClr val="000000"/>
                    </a:solidFill>
                    <a:latin typeface="Arial" panose="020B0604020202020204" pitchFamily="34" charset="0"/>
                  </a:rPr>
                  <a:t>.</a:t>
                </a:r>
                <a:endParaRPr lang="cs-CZ" sz="4000" dirty="0">
                  <a:solidFill>
                    <a:srgbClr val="000000"/>
                  </a:solidFill>
                  <a:latin typeface="Arial" panose="020B0604020202020204" pitchFamily="34" charset="0"/>
                </a:endParaRPr>
              </a:p>
            </p:txBody>
          </p:sp>
        </mc:Choice>
        <mc:Fallback>
          <p:sp>
            <p:nvSpPr>
              <p:cNvPr id="18" name="Obdélník 17"/>
              <p:cNvSpPr>
                <a:spLocks noRot="1" noChangeAspect="1" noMove="1" noResize="1" noEditPoints="1" noAdjustHandles="1" noChangeArrowheads="1" noChangeShapeType="1" noTextEdit="1"/>
              </p:cNvSpPr>
              <p:nvPr/>
            </p:nvSpPr>
            <p:spPr>
              <a:xfrm>
                <a:off x="4927040" y="11884019"/>
                <a:ext cx="4965843" cy="894219"/>
              </a:xfrm>
              <a:prstGeom prst="rect">
                <a:avLst/>
              </a:prstGeom>
              <a:blipFill rotWithShape="1">
                <a:blip r:embed="rId4"/>
                <a:stretch>
                  <a:fillRect t="-12925" b="-6803"/>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19" name="Obdélník 18"/>
              <p:cNvSpPr/>
              <p:nvPr/>
            </p:nvSpPr>
            <p:spPr>
              <a:xfrm>
                <a:off x="360816" y="13621777"/>
                <a:ext cx="14023198" cy="1892762"/>
              </a:xfrm>
              <a:prstGeom prst="rect">
                <a:avLst/>
              </a:prstGeom>
            </p:spPr>
            <p:txBody>
              <a:bodyPr wrap="none">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d>
                        <m:dPr>
                          <m:begChr m:val="〈"/>
                          <m:endChr m:val="〉"/>
                          <m:ctrlPr>
                            <a:rPr lang="cs-CZ" sz="4000" i="1">
                              <a:solidFill>
                                <a:srgbClr val="000000"/>
                              </a:solidFill>
                              <a:latin typeface="Cambria Math"/>
                            </a:rPr>
                          </m:ctrlPr>
                        </m:dPr>
                        <m:e>
                          <m:r>
                            <a:rPr lang="cs-CZ" sz="4000" i="1">
                              <a:solidFill>
                                <a:srgbClr val="000000"/>
                              </a:solidFill>
                              <a:latin typeface="Cambria Math" panose="02040503050406030204" pitchFamily="18" charset="0"/>
                            </a:rPr>
                            <m:t>𝐴</m:t>
                          </m:r>
                          <m:d>
                            <m:dPr>
                              <m:ctrlPr>
                                <a:rPr lang="cs-CZ" sz="4000" i="1">
                                  <a:solidFill>
                                    <a:srgbClr val="000000"/>
                                  </a:solidFill>
                                  <a:latin typeface="Cambria Math"/>
                                </a:rPr>
                              </m:ctrlPr>
                            </m:dPr>
                            <m:e>
                              <m:r>
                                <a:rPr lang="cs-CZ" sz="4000" b="1">
                                  <a:solidFill>
                                    <a:srgbClr val="000000"/>
                                  </a:solidFill>
                                  <a:latin typeface="Cambria Math" panose="02040503050406030204" pitchFamily="18" charset="0"/>
                                </a:rPr>
                                <m:t>𝐫</m:t>
                              </m:r>
                            </m:e>
                          </m:d>
                        </m:e>
                      </m:d>
                      <m:r>
                        <a:rPr lang="cs-CZ" sz="4000">
                          <a:solidFill>
                            <a:srgbClr val="000000"/>
                          </a:solidFill>
                          <a:latin typeface="Cambria Math" panose="02040503050406030204" pitchFamily="18" charset="0"/>
                        </a:rPr>
                        <m:t>=</m:t>
                      </m:r>
                      <m:nary>
                        <m:naryPr>
                          <m:limLoc m:val="undOvr"/>
                          <m:subHide m:val="on"/>
                          <m:supHide m:val="on"/>
                          <m:ctrlPr>
                            <a:rPr lang="cs-CZ" sz="4000" i="1">
                              <a:solidFill>
                                <a:srgbClr val="000000"/>
                              </a:solidFill>
                              <a:latin typeface="Cambria Math"/>
                            </a:rPr>
                          </m:ctrlPr>
                        </m:naryPr>
                        <m:sub/>
                        <m:sup/>
                        <m:e>
                          <m:r>
                            <a:rPr lang="cs-CZ" sz="4000" i="1">
                              <a:solidFill>
                                <a:srgbClr val="000000"/>
                              </a:solidFill>
                              <a:latin typeface="Cambria Math" panose="02040503050406030204" pitchFamily="18" charset="0"/>
                            </a:rPr>
                            <m:t>𝐴</m:t>
                          </m:r>
                          <m:d>
                            <m:dPr>
                              <m:ctrlPr>
                                <a:rPr lang="cs-CZ" sz="4000" i="1">
                                  <a:solidFill>
                                    <a:srgbClr val="000000"/>
                                  </a:solidFill>
                                  <a:latin typeface="Cambria Math"/>
                                </a:rPr>
                              </m:ctrlPr>
                            </m:dPr>
                            <m:e>
                              <m:r>
                                <a:rPr lang="cs-CZ" sz="4000" b="1">
                                  <a:solidFill>
                                    <a:srgbClr val="000000"/>
                                  </a:solidFill>
                                  <a:latin typeface="Cambria Math" panose="02040503050406030204" pitchFamily="18" charset="0"/>
                                </a:rPr>
                                <m:t>𝐫</m:t>
                              </m:r>
                              <m:r>
                                <a:rPr lang="cs-CZ" sz="4000">
                                  <a:solidFill>
                                    <a:srgbClr val="000000"/>
                                  </a:solidFill>
                                  <a:latin typeface="Cambria Math" panose="02040503050406030204" pitchFamily="18" charset="0"/>
                                </a:rPr>
                                <m:t>′</m:t>
                              </m:r>
                            </m:e>
                          </m:d>
                        </m:e>
                      </m:nary>
                      <m:r>
                        <a:rPr lang="cs-CZ" sz="4000" i="1">
                          <a:solidFill>
                            <a:srgbClr val="000000"/>
                          </a:solidFill>
                          <a:latin typeface="Cambria Math" panose="02040503050406030204" pitchFamily="18" charset="0"/>
                        </a:rPr>
                        <m:t>𝑤</m:t>
                      </m:r>
                      <m:d>
                        <m:dPr>
                          <m:ctrlPr>
                            <a:rPr lang="cs-CZ" sz="4000" i="1">
                              <a:solidFill>
                                <a:srgbClr val="000000"/>
                              </a:solidFill>
                              <a:latin typeface="Cambria Math"/>
                            </a:rPr>
                          </m:ctrlPr>
                        </m:dPr>
                        <m:e>
                          <m:r>
                            <a:rPr lang="cs-CZ" sz="4000" b="1">
                              <a:solidFill>
                                <a:srgbClr val="000000"/>
                              </a:solidFill>
                              <a:latin typeface="Cambria Math" panose="02040503050406030204" pitchFamily="18" charset="0"/>
                            </a:rPr>
                            <m:t>𝐫</m:t>
                          </m:r>
                          <m:r>
                            <a:rPr lang="cs-CZ" sz="4000">
                              <a:solidFill>
                                <a:srgbClr val="000000"/>
                              </a:solidFill>
                              <a:latin typeface="Cambria Math" panose="02040503050406030204" pitchFamily="18" charset="0"/>
                            </a:rPr>
                            <m:t>−</m:t>
                          </m:r>
                          <m:sSup>
                            <m:sSupPr>
                              <m:ctrlPr>
                                <a:rPr lang="cs-CZ" sz="4000" i="1">
                                  <a:solidFill>
                                    <a:srgbClr val="000000"/>
                                  </a:solidFill>
                                  <a:latin typeface="Cambria Math"/>
                                </a:rPr>
                              </m:ctrlPr>
                            </m:sSupPr>
                            <m:e>
                              <m:r>
                                <a:rPr lang="cs-CZ" sz="4000" b="1">
                                  <a:solidFill>
                                    <a:srgbClr val="000000"/>
                                  </a:solidFill>
                                  <a:latin typeface="Cambria Math" panose="02040503050406030204" pitchFamily="18" charset="0"/>
                                </a:rPr>
                                <m:t>𝐫</m:t>
                              </m:r>
                            </m:e>
                            <m:sup>
                              <m:r>
                                <a:rPr lang="cs-CZ" sz="4000">
                                  <a:solidFill>
                                    <a:srgbClr val="000000"/>
                                  </a:solidFill>
                                  <a:latin typeface="Cambria Math" panose="02040503050406030204" pitchFamily="18" charset="0"/>
                                </a:rPr>
                                <m:t>′</m:t>
                              </m:r>
                            </m:sup>
                          </m:sSup>
                          <m:r>
                            <a:rPr lang="cs-CZ" sz="4000">
                              <a:solidFill>
                                <a:srgbClr val="000000"/>
                              </a:solidFill>
                              <a:latin typeface="Cambria Math" panose="02040503050406030204" pitchFamily="18" charset="0"/>
                            </a:rPr>
                            <m:t>, </m:t>
                          </m:r>
                          <m:r>
                            <a:rPr lang="cs-CZ" sz="4000" i="1">
                              <a:solidFill>
                                <a:srgbClr val="000000"/>
                              </a:solidFill>
                              <a:latin typeface="Cambria Math" panose="02040503050406030204" pitchFamily="18" charset="0"/>
                            </a:rPr>
                            <m:t>h</m:t>
                          </m:r>
                        </m:e>
                      </m:d>
                      <m:r>
                        <a:rPr lang="cs-CZ" sz="4000" i="1">
                          <a:solidFill>
                            <a:srgbClr val="000000"/>
                          </a:solidFill>
                          <a:latin typeface="Cambria Math" panose="02040503050406030204" pitchFamily="18" charset="0"/>
                        </a:rPr>
                        <m:t>𝑑</m:t>
                      </m:r>
                      <m:sSup>
                        <m:sSupPr>
                          <m:ctrlPr>
                            <a:rPr lang="cs-CZ" sz="4000" i="1">
                              <a:solidFill>
                                <a:srgbClr val="000000"/>
                              </a:solidFill>
                              <a:latin typeface="Cambria Math"/>
                            </a:rPr>
                          </m:ctrlPr>
                        </m:sSupPr>
                        <m:e>
                          <m:r>
                            <a:rPr lang="cs-CZ" sz="4000" b="1">
                              <a:solidFill>
                                <a:srgbClr val="000000"/>
                              </a:solidFill>
                              <a:latin typeface="Cambria Math" panose="02040503050406030204" pitchFamily="18" charset="0"/>
                            </a:rPr>
                            <m:t>𝐫</m:t>
                          </m:r>
                        </m:e>
                        <m:sup>
                          <m:r>
                            <a:rPr lang="cs-CZ" sz="4000">
                              <a:solidFill>
                                <a:srgbClr val="000000"/>
                              </a:solidFill>
                              <a:latin typeface="Cambria Math" panose="02040503050406030204" pitchFamily="18" charset="0"/>
                            </a:rPr>
                            <m:t>′</m:t>
                          </m:r>
                        </m:sup>
                      </m:sSup>
                      <m:r>
                        <a:rPr lang="cs-CZ" sz="4000">
                          <a:solidFill>
                            <a:srgbClr val="000000"/>
                          </a:solidFill>
                          <a:latin typeface="Cambria Math" panose="02040503050406030204" pitchFamily="18" charset="0"/>
                        </a:rPr>
                        <m:t>≅</m:t>
                      </m:r>
                      <m:nary>
                        <m:naryPr>
                          <m:chr m:val="∑"/>
                          <m:limLoc m:val="undOvr"/>
                          <m:ctrlPr>
                            <a:rPr lang="cs-CZ" sz="4000" i="1">
                              <a:solidFill>
                                <a:srgbClr val="000000"/>
                              </a:solidFill>
                              <a:latin typeface="Cambria Math"/>
                            </a:rPr>
                          </m:ctrlPr>
                        </m:naryPr>
                        <m:sub>
                          <m:r>
                            <a:rPr lang="cs-CZ" sz="4000" i="1">
                              <a:solidFill>
                                <a:srgbClr val="000000"/>
                              </a:solidFill>
                              <a:latin typeface="Cambria Math" panose="02040503050406030204" pitchFamily="18" charset="0"/>
                            </a:rPr>
                            <m:t>𝑗</m:t>
                          </m:r>
                          <m:r>
                            <a:rPr lang="cs-CZ" sz="4000">
                              <a:solidFill>
                                <a:srgbClr val="000000"/>
                              </a:solidFill>
                              <a:latin typeface="Cambria Math" panose="02040503050406030204" pitchFamily="18" charset="0"/>
                            </a:rPr>
                            <m:t>=1</m:t>
                          </m:r>
                        </m:sub>
                        <m:sup>
                          <m:r>
                            <a:rPr lang="cs-CZ" sz="4000" i="1">
                              <a:solidFill>
                                <a:srgbClr val="000000"/>
                              </a:solidFill>
                              <a:latin typeface="Cambria Math" panose="02040503050406030204" pitchFamily="18" charset="0"/>
                            </a:rPr>
                            <m:t>𝑁</m:t>
                          </m:r>
                        </m:sup>
                        <m:e>
                          <m:f>
                            <m:fPr>
                              <m:ctrlPr>
                                <a:rPr lang="cs-CZ" sz="4000" i="1">
                                  <a:solidFill>
                                    <a:srgbClr val="000000"/>
                                  </a:solidFill>
                                  <a:latin typeface="Cambria Math"/>
                                </a:rPr>
                              </m:ctrlPr>
                            </m:fPr>
                            <m:num>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𝑚</m:t>
                                  </m:r>
                                </m:e>
                                <m:sub>
                                  <m:r>
                                    <a:rPr lang="cs-CZ" sz="4000" i="1">
                                      <a:solidFill>
                                        <a:srgbClr val="000000"/>
                                      </a:solidFill>
                                      <a:latin typeface="Cambria Math" panose="02040503050406030204" pitchFamily="18" charset="0"/>
                                    </a:rPr>
                                    <m:t>𝑗</m:t>
                                  </m:r>
                                </m:sub>
                              </m:sSub>
                            </m:num>
                            <m:den>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𝜌</m:t>
                                  </m:r>
                                </m:e>
                                <m:sub>
                                  <m:r>
                                    <a:rPr lang="cs-CZ" sz="4000" i="1">
                                      <a:solidFill>
                                        <a:srgbClr val="000000"/>
                                      </a:solidFill>
                                      <a:latin typeface="Cambria Math" panose="02040503050406030204" pitchFamily="18" charset="0"/>
                                    </a:rPr>
                                    <m:t>𝑗</m:t>
                                  </m:r>
                                </m:sub>
                              </m:sSub>
                              <m:d>
                                <m:dPr>
                                  <m:ctrlPr>
                                    <a:rPr lang="cs-CZ" sz="4000" i="1">
                                      <a:solidFill>
                                        <a:srgbClr val="000000"/>
                                      </a:solidFill>
                                      <a:latin typeface="Cambria Math"/>
                                    </a:rPr>
                                  </m:ctrlPr>
                                </m:dPr>
                                <m:e>
                                  <m:sSub>
                                    <m:sSubPr>
                                      <m:ctrlPr>
                                        <a:rPr lang="cs-CZ" sz="4000" i="1">
                                          <a:solidFill>
                                            <a:srgbClr val="000000"/>
                                          </a:solidFill>
                                          <a:latin typeface="Cambria Math"/>
                                        </a:rPr>
                                      </m:ctrlPr>
                                    </m:sSubPr>
                                    <m:e>
                                      <m:r>
                                        <a:rPr lang="cs-CZ" sz="4000" b="1">
                                          <a:solidFill>
                                            <a:srgbClr val="000000"/>
                                          </a:solidFill>
                                          <a:latin typeface="Cambria Math" panose="02040503050406030204" pitchFamily="18" charset="0"/>
                                        </a:rPr>
                                        <m:t>𝐫</m:t>
                                      </m:r>
                                    </m:e>
                                    <m:sub>
                                      <m:r>
                                        <a:rPr lang="cs-CZ" sz="4000" i="1">
                                          <a:solidFill>
                                            <a:srgbClr val="000000"/>
                                          </a:solidFill>
                                          <a:latin typeface="Cambria Math" panose="02040503050406030204" pitchFamily="18" charset="0"/>
                                        </a:rPr>
                                        <m:t>𝑗</m:t>
                                      </m:r>
                                    </m:sub>
                                  </m:sSub>
                                </m:e>
                              </m:d>
                            </m:den>
                          </m:f>
                          <m:r>
                            <a:rPr lang="cs-CZ" sz="4000" i="1">
                              <a:solidFill>
                                <a:srgbClr val="000000"/>
                              </a:solidFill>
                              <a:latin typeface="Cambria Math" panose="02040503050406030204" pitchFamily="18" charset="0"/>
                            </a:rPr>
                            <m:t>𝐴</m:t>
                          </m:r>
                          <m:d>
                            <m:dPr>
                              <m:ctrlPr>
                                <a:rPr lang="cs-CZ" sz="4000" i="1">
                                  <a:solidFill>
                                    <a:srgbClr val="000000"/>
                                  </a:solidFill>
                                  <a:latin typeface="Cambria Math"/>
                                </a:rPr>
                              </m:ctrlPr>
                            </m:dPr>
                            <m:e>
                              <m:sSub>
                                <m:sSubPr>
                                  <m:ctrlPr>
                                    <a:rPr lang="cs-CZ" sz="4000" i="1">
                                      <a:solidFill>
                                        <a:srgbClr val="000000"/>
                                      </a:solidFill>
                                      <a:latin typeface="Cambria Math"/>
                                    </a:rPr>
                                  </m:ctrlPr>
                                </m:sSubPr>
                                <m:e>
                                  <m:r>
                                    <a:rPr lang="cs-CZ" sz="4000" b="1">
                                      <a:solidFill>
                                        <a:srgbClr val="000000"/>
                                      </a:solidFill>
                                      <a:latin typeface="Cambria Math" panose="02040503050406030204" pitchFamily="18" charset="0"/>
                                    </a:rPr>
                                    <m:t>𝐫</m:t>
                                  </m:r>
                                </m:e>
                                <m:sub>
                                  <m:r>
                                    <a:rPr lang="cs-CZ" sz="4000" i="1">
                                      <a:solidFill>
                                        <a:srgbClr val="000000"/>
                                      </a:solidFill>
                                      <a:latin typeface="Cambria Math" panose="02040503050406030204" pitchFamily="18" charset="0"/>
                                    </a:rPr>
                                    <m:t>𝑗</m:t>
                                  </m:r>
                                </m:sub>
                              </m:sSub>
                            </m:e>
                          </m:d>
                        </m:e>
                      </m:nary>
                      <m:r>
                        <a:rPr lang="cs-CZ" sz="4000" i="1">
                          <a:solidFill>
                            <a:srgbClr val="000000"/>
                          </a:solidFill>
                          <a:latin typeface="Cambria Math" panose="02040503050406030204" pitchFamily="18" charset="0"/>
                        </a:rPr>
                        <m:t>𝑤</m:t>
                      </m:r>
                      <m:d>
                        <m:dPr>
                          <m:ctrlPr>
                            <a:rPr lang="cs-CZ" sz="4000" i="1">
                              <a:solidFill>
                                <a:srgbClr val="000000"/>
                              </a:solidFill>
                              <a:latin typeface="Cambria Math"/>
                            </a:rPr>
                          </m:ctrlPr>
                        </m:dPr>
                        <m:e>
                          <m:r>
                            <a:rPr lang="cs-CZ" sz="4000" b="1">
                              <a:solidFill>
                                <a:srgbClr val="000000"/>
                              </a:solidFill>
                              <a:latin typeface="Cambria Math" panose="02040503050406030204" pitchFamily="18" charset="0"/>
                            </a:rPr>
                            <m:t>𝐫</m:t>
                          </m:r>
                          <m:r>
                            <a:rPr lang="cs-CZ" sz="4000">
                              <a:solidFill>
                                <a:srgbClr val="000000"/>
                              </a:solidFill>
                              <a:latin typeface="Cambria Math" panose="02040503050406030204" pitchFamily="18" charset="0"/>
                            </a:rPr>
                            <m:t>−</m:t>
                          </m:r>
                          <m:sSub>
                            <m:sSubPr>
                              <m:ctrlPr>
                                <a:rPr lang="cs-CZ" sz="4000" i="1">
                                  <a:solidFill>
                                    <a:srgbClr val="000000"/>
                                  </a:solidFill>
                                  <a:latin typeface="Cambria Math"/>
                                </a:rPr>
                              </m:ctrlPr>
                            </m:sSubPr>
                            <m:e>
                              <m:r>
                                <a:rPr lang="cs-CZ" sz="4000" b="1">
                                  <a:solidFill>
                                    <a:srgbClr val="000000"/>
                                  </a:solidFill>
                                  <a:latin typeface="Cambria Math" panose="02040503050406030204" pitchFamily="18" charset="0"/>
                                </a:rPr>
                                <m:t>𝐫</m:t>
                              </m:r>
                            </m:e>
                            <m:sub>
                              <m:r>
                                <a:rPr lang="cs-CZ" sz="4000" i="1">
                                  <a:solidFill>
                                    <a:srgbClr val="000000"/>
                                  </a:solidFill>
                                  <a:latin typeface="Cambria Math" panose="02040503050406030204" pitchFamily="18" charset="0"/>
                                </a:rPr>
                                <m:t>𝑗</m:t>
                              </m:r>
                            </m:sub>
                          </m:sSub>
                          <m:r>
                            <a:rPr lang="cs-CZ" sz="4000">
                              <a:solidFill>
                                <a:srgbClr val="000000"/>
                              </a:solidFill>
                              <a:latin typeface="Cambria Math" panose="02040503050406030204" pitchFamily="18" charset="0"/>
                            </a:rPr>
                            <m:t>, </m:t>
                          </m:r>
                          <m:r>
                            <a:rPr lang="cs-CZ" sz="4000" i="1">
                              <a:solidFill>
                                <a:srgbClr val="000000"/>
                              </a:solidFill>
                              <a:latin typeface="Cambria Math" panose="02040503050406030204" pitchFamily="18" charset="0"/>
                            </a:rPr>
                            <m:t>h</m:t>
                          </m:r>
                        </m:e>
                      </m:d>
                    </m:oMath>
                  </m:oMathPara>
                </a14:m>
                <a:endParaRPr lang="cs-CZ" sz="4000" dirty="0">
                  <a:solidFill>
                    <a:srgbClr val="000000"/>
                  </a:solidFill>
                  <a:latin typeface="Arial" panose="020B0604020202020204" pitchFamily="34" charset="0"/>
                </a:endParaRPr>
              </a:p>
            </p:txBody>
          </p:sp>
        </mc:Choice>
        <mc:Fallback xmlns="">
          <p:sp>
            <p:nvSpPr>
              <p:cNvPr id="19" name="Obdélník 18"/>
              <p:cNvSpPr>
                <a:spLocks noRot="1" noChangeAspect="1" noMove="1" noResize="1" noEditPoints="1" noAdjustHandles="1" noChangeArrowheads="1" noChangeShapeType="1" noTextEdit="1"/>
              </p:cNvSpPr>
              <p:nvPr/>
            </p:nvSpPr>
            <p:spPr>
              <a:xfrm>
                <a:off x="360816" y="13621777"/>
                <a:ext cx="14023198" cy="1892762"/>
              </a:xfrm>
              <a:prstGeom prst="rect">
                <a:avLst/>
              </a:prstGeom>
              <a:blipFill rotWithShape="0">
                <a:blip r:embed="rId5"/>
                <a:stretch>
                  <a:fillRect/>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20" name="Obdélník 19"/>
              <p:cNvSpPr/>
              <p:nvPr/>
            </p:nvSpPr>
            <p:spPr>
              <a:xfrm>
                <a:off x="294792" y="18185403"/>
                <a:ext cx="8441285" cy="1892762"/>
              </a:xfrm>
              <a:prstGeom prst="rect">
                <a:avLst/>
              </a:prstGeom>
            </p:spPr>
            <p:txBody>
              <a:bodyPr wrap="none">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f>
                        <m:fPr>
                          <m:ctrlPr>
                            <a:rPr lang="cs-CZ" sz="4000" i="1">
                              <a:solidFill>
                                <a:srgbClr val="000000"/>
                              </a:solidFill>
                              <a:latin typeface="Cambria Math"/>
                            </a:rPr>
                          </m:ctrlPr>
                        </m:fPr>
                        <m:num>
                          <m:r>
                            <a:rPr lang="cs-CZ" sz="4000" i="1">
                              <a:solidFill>
                                <a:srgbClr val="000000"/>
                              </a:solidFill>
                              <a:latin typeface="Cambria Math" panose="02040503050406030204" pitchFamily="18" charset="0"/>
                            </a:rPr>
                            <m:t>𝑑</m:t>
                          </m:r>
                          <m:sSub>
                            <m:sSubPr>
                              <m:ctrlPr>
                                <a:rPr lang="cs-CZ" sz="4000" i="1">
                                  <a:solidFill>
                                    <a:srgbClr val="000000"/>
                                  </a:solidFill>
                                  <a:latin typeface="Cambria Math"/>
                                </a:rPr>
                              </m:ctrlPr>
                            </m:sSubPr>
                            <m:e>
                              <m:r>
                                <a:rPr lang="cs-CZ" sz="4000" b="1">
                                  <a:solidFill>
                                    <a:srgbClr val="000000"/>
                                  </a:solidFill>
                                  <a:latin typeface="Cambria Math" panose="02040503050406030204" pitchFamily="18" charset="0"/>
                                </a:rPr>
                                <m:t>𝐯</m:t>
                              </m:r>
                            </m:e>
                            <m:sub>
                              <m:r>
                                <a:rPr lang="cs-CZ" sz="4000" i="1">
                                  <a:solidFill>
                                    <a:srgbClr val="000000"/>
                                  </a:solidFill>
                                  <a:latin typeface="Cambria Math" panose="02040503050406030204" pitchFamily="18" charset="0"/>
                                </a:rPr>
                                <m:t>𝑖</m:t>
                              </m:r>
                            </m:sub>
                          </m:sSub>
                        </m:num>
                        <m:den>
                          <m:r>
                            <a:rPr lang="cs-CZ" sz="4000" i="1">
                              <a:solidFill>
                                <a:srgbClr val="000000"/>
                              </a:solidFill>
                              <a:latin typeface="Cambria Math" panose="02040503050406030204" pitchFamily="18" charset="0"/>
                            </a:rPr>
                            <m:t>𝑑𝑡</m:t>
                          </m:r>
                        </m:den>
                      </m:f>
                      <m:r>
                        <a:rPr lang="cs-CZ" sz="4000">
                          <a:solidFill>
                            <a:srgbClr val="000000"/>
                          </a:solidFill>
                          <a:latin typeface="Cambria Math" panose="02040503050406030204" pitchFamily="18" charset="0"/>
                        </a:rPr>
                        <m:t>=−</m:t>
                      </m:r>
                      <m:nary>
                        <m:naryPr>
                          <m:chr m:val="∑"/>
                          <m:limLoc m:val="undOvr"/>
                          <m:ctrlPr>
                            <a:rPr lang="cs-CZ" sz="4000" i="1">
                              <a:solidFill>
                                <a:srgbClr val="000000"/>
                              </a:solidFill>
                              <a:latin typeface="Cambria Math"/>
                            </a:rPr>
                          </m:ctrlPr>
                        </m:naryPr>
                        <m:sub>
                          <m:r>
                            <a:rPr lang="cs-CZ" sz="4000" i="1">
                              <a:solidFill>
                                <a:srgbClr val="000000"/>
                              </a:solidFill>
                              <a:latin typeface="Cambria Math" panose="02040503050406030204" pitchFamily="18" charset="0"/>
                            </a:rPr>
                            <m:t>𝑗</m:t>
                          </m:r>
                          <m:r>
                            <a:rPr lang="cs-CZ" sz="4000">
                              <a:solidFill>
                                <a:srgbClr val="000000"/>
                              </a:solidFill>
                              <a:latin typeface="Cambria Math" panose="02040503050406030204" pitchFamily="18" charset="0"/>
                            </a:rPr>
                            <m:t>=1</m:t>
                          </m:r>
                        </m:sub>
                        <m:sup>
                          <m:r>
                            <a:rPr lang="cs-CZ" sz="4000" i="1">
                              <a:solidFill>
                                <a:srgbClr val="000000"/>
                              </a:solidFill>
                              <a:latin typeface="Cambria Math" panose="02040503050406030204" pitchFamily="18" charset="0"/>
                            </a:rPr>
                            <m:t>𝑁</m:t>
                          </m:r>
                        </m:sup>
                        <m:e>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𝑚</m:t>
                              </m:r>
                            </m:e>
                            <m:sub>
                              <m:r>
                                <a:rPr lang="cs-CZ" sz="4000" i="1">
                                  <a:solidFill>
                                    <a:srgbClr val="000000"/>
                                  </a:solidFill>
                                  <a:latin typeface="Cambria Math" panose="02040503050406030204" pitchFamily="18" charset="0"/>
                                </a:rPr>
                                <m:t>𝑗</m:t>
                              </m:r>
                            </m:sub>
                          </m:sSub>
                          <m:d>
                            <m:dPr>
                              <m:ctrlPr>
                                <a:rPr lang="cs-CZ" sz="4000" i="1">
                                  <a:solidFill>
                                    <a:srgbClr val="000000"/>
                                  </a:solidFill>
                                  <a:latin typeface="Cambria Math"/>
                                </a:rPr>
                              </m:ctrlPr>
                            </m:dPr>
                            <m:e>
                              <m:f>
                                <m:fPr>
                                  <m:ctrlPr>
                                    <a:rPr lang="cs-CZ" sz="4000" i="1">
                                      <a:solidFill>
                                        <a:srgbClr val="000000"/>
                                      </a:solidFill>
                                      <a:latin typeface="Cambria Math"/>
                                    </a:rPr>
                                  </m:ctrlPr>
                                </m:fPr>
                                <m:num>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𝑝</m:t>
                                      </m:r>
                                    </m:e>
                                    <m:sub>
                                      <m:r>
                                        <a:rPr lang="cs-CZ" sz="4000" i="1">
                                          <a:solidFill>
                                            <a:srgbClr val="000000"/>
                                          </a:solidFill>
                                          <a:latin typeface="Cambria Math" panose="02040503050406030204" pitchFamily="18" charset="0"/>
                                        </a:rPr>
                                        <m:t>𝑗</m:t>
                                      </m:r>
                                    </m:sub>
                                  </m:sSub>
                                </m:num>
                                <m:den>
                                  <m:sSubSup>
                                    <m:sSubSupPr>
                                      <m:ctrlPr>
                                        <a:rPr lang="cs-CZ" sz="4000" i="1">
                                          <a:solidFill>
                                            <a:srgbClr val="000000"/>
                                          </a:solidFill>
                                          <a:latin typeface="Cambria Math"/>
                                        </a:rPr>
                                      </m:ctrlPr>
                                    </m:sSubSupPr>
                                    <m:e>
                                      <m:r>
                                        <a:rPr lang="cs-CZ" sz="4000" i="1">
                                          <a:solidFill>
                                            <a:srgbClr val="000000"/>
                                          </a:solidFill>
                                          <a:latin typeface="Cambria Math" panose="02040503050406030204" pitchFamily="18" charset="0"/>
                                        </a:rPr>
                                        <m:t>𝜌</m:t>
                                      </m:r>
                                    </m:e>
                                    <m:sub>
                                      <m:r>
                                        <a:rPr lang="cs-CZ" sz="4000" i="1">
                                          <a:solidFill>
                                            <a:srgbClr val="000000"/>
                                          </a:solidFill>
                                          <a:latin typeface="Cambria Math" panose="02040503050406030204" pitchFamily="18" charset="0"/>
                                        </a:rPr>
                                        <m:t>𝑗</m:t>
                                      </m:r>
                                    </m:sub>
                                    <m:sup>
                                      <m:r>
                                        <a:rPr lang="cs-CZ" sz="4000">
                                          <a:solidFill>
                                            <a:srgbClr val="000000"/>
                                          </a:solidFill>
                                          <a:latin typeface="Cambria Math" panose="02040503050406030204" pitchFamily="18" charset="0"/>
                                        </a:rPr>
                                        <m:t>2</m:t>
                                      </m:r>
                                    </m:sup>
                                  </m:sSubSup>
                                </m:den>
                              </m:f>
                              <m:r>
                                <a:rPr lang="cs-CZ" sz="4000">
                                  <a:solidFill>
                                    <a:srgbClr val="000000"/>
                                  </a:solidFill>
                                  <a:latin typeface="Cambria Math" panose="02040503050406030204" pitchFamily="18" charset="0"/>
                                </a:rPr>
                                <m:t>+</m:t>
                              </m:r>
                              <m:f>
                                <m:fPr>
                                  <m:ctrlPr>
                                    <a:rPr lang="cs-CZ" sz="4000" i="1">
                                      <a:solidFill>
                                        <a:srgbClr val="000000"/>
                                      </a:solidFill>
                                      <a:latin typeface="Cambria Math"/>
                                    </a:rPr>
                                  </m:ctrlPr>
                                </m:fPr>
                                <m:num>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𝑝</m:t>
                                      </m:r>
                                    </m:e>
                                    <m:sub>
                                      <m:r>
                                        <a:rPr lang="cs-CZ" sz="4000" i="1">
                                          <a:solidFill>
                                            <a:srgbClr val="000000"/>
                                          </a:solidFill>
                                          <a:latin typeface="Cambria Math" panose="02040503050406030204" pitchFamily="18" charset="0"/>
                                        </a:rPr>
                                        <m:t>𝑖</m:t>
                                      </m:r>
                                    </m:sub>
                                  </m:sSub>
                                </m:num>
                                <m:den>
                                  <m:sSubSup>
                                    <m:sSubSupPr>
                                      <m:ctrlPr>
                                        <a:rPr lang="cs-CZ" sz="4000" i="1">
                                          <a:solidFill>
                                            <a:srgbClr val="000000"/>
                                          </a:solidFill>
                                          <a:latin typeface="Cambria Math"/>
                                        </a:rPr>
                                      </m:ctrlPr>
                                    </m:sSubSupPr>
                                    <m:e>
                                      <m:r>
                                        <a:rPr lang="cs-CZ" sz="4000" i="1">
                                          <a:solidFill>
                                            <a:srgbClr val="000000"/>
                                          </a:solidFill>
                                          <a:latin typeface="Cambria Math" panose="02040503050406030204" pitchFamily="18" charset="0"/>
                                        </a:rPr>
                                        <m:t>𝜌</m:t>
                                      </m:r>
                                    </m:e>
                                    <m:sub>
                                      <m:r>
                                        <a:rPr lang="cs-CZ" sz="4000" i="1">
                                          <a:solidFill>
                                            <a:srgbClr val="000000"/>
                                          </a:solidFill>
                                          <a:latin typeface="Cambria Math" panose="02040503050406030204" pitchFamily="18" charset="0"/>
                                        </a:rPr>
                                        <m:t>𝑖</m:t>
                                      </m:r>
                                    </m:sub>
                                    <m:sup>
                                      <m:r>
                                        <a:rPr lang="cs-CZ" sz="4000">
                                          <a:solidFill>
                                            <a:srgbClr val="000000"/>
                                          </a:solidFill>
                                          <a:latin typeface="Cambria Math" panose="02040503050406030204" pitchFamily="18" charset="0"/>
                                        </a:rPr>
                                        <m:t>2</m:t>
                                      </m:r>
                                    </m:sup>
                                  </m:sSubSup>
                                </m:den>
                              </m:f>
                              <m:r>
                                <a:rPr lang="cs-CZ" sz="4000">
                                  <a:solidFill>
                                    <a:srgbClr val="000000"/>
                                  </a:solidFill>
                                  <a:latin typeface="Cambria Math" panose="02040503050406030204" pitchFamily="18" charset="0"/>
                                </a:rPr>
                                <m:t>+</m:t>
                              </m:r>
                              <m:sSub>
                                <m:sSubPr>
                                  <m:ctrlPr>
                                    <a:rPr lang="cs-CZ" sz="4000" i="1">
                                      <a:solidFill>
                                        <a:srgbClr val="000000"/>
                                      </a:solidFill>
                                      <a:latin typeface="Cambria Math"/>
                                    </a:rPr>
                                  </m:ctrlPr>
                                </m:sSubPr>
                                <m:e>
                                  <m:r>
                                    <m:rPr>
                                      <m:sty m:val="p"/>
                                    </m:rPr>
                                    <a:rPr lang="cs-CZ" sz="4000">
                                      <a:solidFill>
                                        <a:srgbClr val="000000"/>
                                      </a:solidFill>
                                      <a:latin typeface="Cambria Math" panose="02040503050406030204" pitchFamily="18" charset="0"/>
                                    </a:rPr>
                                    <m:t>Π</m:t>
                                  </m:r>
                                </m:e>
                                <m:sub>
                                  <m:r>
                                    <a:rPr lang="cs-CZ" sz="4000" i="1">
                                      <a:solidFill>
                                        <a:srgbClr val="000000"/>
                                      </a:solidFill>
                                      <a:latin typeface="Cambria Math" panose="02040503050406030204" pitchFamily="18" charset="0"/>
                                    </a:rPr>
                                    <m:t>𝑖𝑗</m:t>
                                  </m:r>
                                </m:sub>
                              </m:sSub>
                            </m:e>
                          </m:d>
                        </m:e>
                      </m:nary>
                      <m:r>
                        <a:rPr lang="cs-CZ" sz="4000">
                          <a:solidFill>
                            <a:srgbClr val="000000"/>
                          </a:solidFill>
                          <a:latin typeface="Cambria Math" panose="02040503050406030204" pitchFamily="18" charset="0"/>
                        </a:rPr>
                        <m:t>𝛻</m:t>
                      </m:r>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𝑤</m:t>
                          </m:r>
                        </m:e>
                        <m:sub>
                          <m:r>
                            <a:rPr lang="cs-CZ" sz="4000" i="1">
                              <a:solidFill>
                                <a:srgbClr val="000000"/>
                              </a:solidFill>
                              <a:latin typeface="Cambria Math" panose="02040503050406030204" pitchFamily="18" charset="0"/>
                            </a:rPr>
                            <m:t>𝑖𝑗</m:t>
                          </m:r>
                        </m:sub>
                      </m:sSub>
                      <m:r>
                        <a:rPr lang="cs-CZ" sz="4000">
                          <a:solidFill>
                            <a:srgbClr val="000000"/>
                          </a:solidFill>
                          <a:latin typeface="Cambria Math" panose="02040503050406030204" pitchFamily="18" charset="0"/>
                        </a:rPr>
                        <m:t>,</m:t>
                      </m:r>
                    </m:oMath>
                  </m:oMathPara>
                </a14:m>
                <a:endParaRPr lang="cs-CZ" sz="4000" dirty="0">
                  <a:solidFill>
                    <a:srgbClr val="000000"/>
                  </a:solidFill>
                  <a:latin typeface="Arial" panose="020B0604020202020204" pitchFamily="34" charset="0"/>
                </a:endParaRPr>
              </a:p>
            </p:txBody>
          </p:sp>
        </mc:Choice>
        <mc:Fallback xmlns="">
          <p:sp>
            <p:nvSpPr>
              <p:cNvPr id="20" name="Obdélník 19"/>
              <p:cNvSpPr>
                <a:spLocks noRot="1" noChangeAspect="1" noMove="1" noResize="1" noEditPoints="1" noAdjustHandles="1" noChangeArrowheads="1" noChangeShapeType="1" noTextEdit="1"/>
              </p:cNvSpPr>
              <p:nvPr/>
            </p:nvSpPr>
            <p:spPr>
              <a:xfrm>
                <a:off x="294792" y="18185403"/>
                <a:ext cx="8441285" cy="1892762"/>
              </a:xfrm>
              <a:prstGeom prst="rect">
                <a:avLst/>
              </a:prstGeom>
              <a:blipFill rotWithShape="0">
                <a:blip r:embed="rId6"/>
                <a:stretch>
                  <a:fillRect/>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21" name="Obdélník 20"/>
              <p:cNvSpPr/>
              <p:nvPr/>
            </p:nvSpPr>
            <p:spPr>
              <a:xfrm>
                <a:off x="290104" y="20246513"/>
                <a:ext cx="14850091" cy="1892762"/>
              </a:xfrm>
              <a:prstGeom prst="rect">
                <a:avLst/>
              </a:prstGeom>
            </p:spPr>
            <p:txBody>
              <a:bodyPr wrap="none">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f>
                        <m:fPr>
                          <m:ctrlPr>
                            <a:rPr lang="cs-CZ" sz="4000" i="1">
                              <a:solidFill>
                                <a:srgbClr val="000000"/>
                              </a:solidFill>
                              <a:latin typeface="Cambria Math"/>
                            </a:rPr>
                          </m:ctrlPr>
                        </m:fPr>
                        <m:num>
                          <m:r>
                            <a:rPr lang="cs-CZ" sz="4000" i="1">
                              <a:solidFill>
                                <a:srgbClr val="000000"/>
                              </a:solidFill>
                              <a:latin typeface="Cambria Math" panose="02040503050406030204" pitchFamily="18" charset="0"/>
                            </a:rPr>
                            <m:t>𝑑</m:t>
                          </m:r>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𝜌</m:t>
                              </m:r>
                            </m:e>
                            <m:sub>
                              <m:r>
                                <a:rPr lang="cs-CZ" sz="4000" i="1">
                                  <a:solidFill>
                                    <a:srgbClr val="000000"/>
                                  </a:solidFill>
                                  <a:latin typeface="Cambria Math" panose="02040503050406030204" pitchFamily="18" charset="0"/>
                                </a:rPr>
                                <m:t>𝑖</m:t>
                              </m:r>
                            </m:sub>
                          </m:sSub>
                        </m:num>
                        <m:den>
                          <m:r>
                            <a:rPr lang="cs-CZ" sz="4000" i="1">
                              <a:solidFill>
                                <a:srgbClr val="000000"/>
                              </a:solidFill>
                              <a:latin typeface="Cambria Math" panose="02040503050406030204" pitchFamily="18" charset="0"/>
                            </a:rPr>
                            <m:t>𝑑𝑡</m:t>
                          </m:r>
                        </m:den>
                      </m:f>
                      <m:r>
                        <a:rPr lang="cs-CZ" sz="4000">
                          <a:solidFill>
                            <a:srgbClr val="000000"/>
                          </a:solidFill>
                          <a:latin typeface="Cambria Math" panose="02040503050406030204" pitchFamily="18" charset="0"/>
                        </a:rPr>
                        <m:t>=−</m:t>
                      </m:r>
                      <m:nary>
                        <m:naryPr>
                          <m:chr m:val="∑"/>
                          <m:limLoc m:val="undOvr"/>
                          <m:ctrlPr>
                            <a:rPr lang="cs-CZ" sz="4000" i="1">
                              <a:solidFill>
                                <a:srgbClr val="000000"/>
                              </a:solidFill>
                              <a:latin typeface="Cambria Math"/>
                            </a:rPr>
                          </m:ctrlPr>
                        </m:naryPr>
                        <m:sub>
                          <m:r>
                            <a:rPr lang="cs-CZ" sz="4000" i="1">
                              <a:solidFill>
                                <a:srgbClr val="000000"/>
                              </a:solidFill>
                              <a:latin typeface="Cambria Math" panose="02040503050406030204" pitchFamily="18" charset="0"/>
                            </a:rPr>
                            <m:t>𝑗</m:t>
                          </m:r>
                          <m:r>
                            <a:rPr lang="cs-CZ" sz="4000">
                              <a:solidFill>
                                <a:srgbClr val="000000"/>
                              </a:solidFill>
                              <a:latin typeface="Cambria Math" panose="02040503050406030204" pitchFamily="18" charset="0"/>
                            </a:rPr>
                            <m:t>=1</m:t>
                          </m:r>
                        </m:sub>
                        <m:sup>
                          <m:r>
                            <a:rPr lang="cs-CZ" sz="4000" i="1">
                              <a:solidFill>
                                <a:srgbClr val="000000"/>
                              </a:solidFill>
                              <a:latin typeface="Cambria Math" panose="02040503050406030204" pitchFamily="18" charset="0"/>
                            </a:rPr>
                            <m:t>𝑁</m:t>
                          </m:r>
                        </m:sup>
                        <m:e>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𝑚</m:t>
                              </m:r>
                            </m:e>
                            <m:sub>
                              <m:r>
                                <a:rPr lang="cs-CZ" sz="4000" i="1">
                                  <a:solidFill>
                                    <a:srgbClr val="000000"/>
                                  </a:solidFill>
                                  <a:latin typeface="Cambria Math" panose="02040503050406030204" pitchFamily="18" charset="0"/>
                                </a:rPr>
                                <m:t>𝑗</m:t>
                              </m:r>
                            </m:sub>
                          </m:sSub>
                          <m:d>
                            <m:dPr>
                              <m:ctrlPr>
                                <a:rPr lang="cs-CZ" sz="4000" i="1">
                                  <a:solidFill>
                                    <a:srgbClr val="000000"/>
                                  </a:solidFill>
                                  <a:latin typeface="Cambria Math"/>
                                </a:rPr>
                              </m:ctrlPr>
                            </m:dPr>
                            <m:e>
                              <m:sSub>
                                <m:sSubPr>
                                  <m:ctrlPr>
                                    <a:rPr lang="cs-CZ" sz="4000" i="1">
                                      <a:solidFill>
                                        <a:srgbClr val="000000"/>
                                      </a:solidFill>
                                      <a:latin typeface="Cambria Math"/>
                                    </a:rPr>
                                  </m:ctrlPr>
                                </m:sSubPr>
                                <m:e>
                                  <m:r>
                                    <a:rPr lang="cs-CZ" sz="4000" b="1">
                                      <a:solidFill>
                                        <a:srgbClr val="000000"/>
                                      </a:solidFill>
                                      <a:latin typeface="Cambria Math" panose="02040503050406030204" pitchFamily="18" charset="0"/>
                                    </a:rPr>
                                    <m:t>𝐯</m:t>
                                  </m:r>
                                </m:e>
                                <m:sub>
                                  <m:r>
                                    <a:rPr lang="cs-CZ" sz="4000" i="1">
                                      <a:solidFill>
                                        <a:srgbClr val="000000"/>
                                      </a:solidFill>
                                      <a:latin typeface="Cambria Math" panose="02040503050406030204" pitchFamily="18" charset="0"/>
                                    </a:rPr>
                                    <m:t>𝑖</m:t>
                                  </m:r>
                                </m:sub>
                              </m:sSub>
                              <m:r>
                                <a:rPr lang="cs-CZ" sz="4000">
                                  <a:solidFill>
                                    <a:srgbClr val="000000"/>
                                  </a:solidFill>
                                  <a:latin typeface="Cambria Math" panose="02040503050406030204" pitchFamily="18" charset="0"/>
                                </a:rPr>
                                <m:t>−</m:t>
                              </m:r>
                              <m:sSub>
                                <m:sSubPr>
                                  <m:ctrlPr>
                                    <a:rPr lang="cs-CZ" sz="4000" i="1">
                                      <a:solidFill>
                                        <a:srgbClr val="000000"/>
                                      </a:solidFill>
                                      <a:latin typeface="Cambria Math"/>
                                    </a:rPr>
                                  </m:ctrlPr>
                                </m:sSubPr>
                                <m:e>
                                  <m:r>
                                    <a:rPr lang="cs-CZ" sz="4000" b="1">
                                      <a:solidFill>
                                        <a:srgbClr val="000000"/>
                                      </a:solidFill>
                                      <a:latin typeface="Cambria Math" panose="02040503050406030204" pitchFamily="18" charset="0"/>
                                    </a:rPr>
                                    <m:t>𝐯</m:t>
                                  </m:r>
                                </m:e>
                                <m:sub>
                                  <m:r>
                                    <a:rPr lang="cs-CZ" sz="4000" i="1">
                                      <a:solidFill>
                                        <a:srgbClr val="000000"/>
                                      </a:solidFill>
                                      <a:latin typeface="Cambria Math" panose="02040503050406030204" pitchFamily="18" charset="0"/>
                                    </a:rPr>
                                    <m:t>𝑗</m:t>
                                  </m:r>
                                </m:sub>
                              </m:sSub>
                            </m:e>
                          </m:d>
                        </m:e>
                      </m:nary>
                      <m:r>
                        <a:rPr lang="cs-CZ" sz="4000">
                          <a:solidFill>
                            <a:srgbClr val="000000"/>
                          </a:solidFill>
                          <a:latin typeface="Cambria Math" panose="02040503050406030204" pitchFamily="18" charset="0"/>
                        </a:rPr>
                        <m:t>𝛻</m:t>
                      </m:r>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𝑤</m:t>
                          </m:r>
                        </m:e>
                        <m:sub>
                          <m:r>
                            <a:rPr lang="cs-CZ" sz="4000" i="1">
                              <a:solidFill>
                                <a:srgbClr val="000000"/>
                              </a:solidFill>
                              <a:latin typeface="Cambria Math" panose="02040503050406030204" pitchFamily="18" charset="0"/>
                            </a:rPr>
                            <m:t>𝑖𝑗</m:t>
                          </m:r>
                        </m:sub>
                      </m:sSub>
                      <m:r>
                        <a:rPr lang="cs-CZ" sz="4000">
                          <a:solidFill>
                            <a:srgbClr val="000000"/>
                          </a:solidFill>
                          <a:latin typeface="Cambria Math" panose="02040503050406030204" pitchFamily="18" charset="0"/>
                        </a:rPr>
                        <m:t>, </m:t>
                      </m:r>
                      <m:r>
                        <a:rPr lang="en-US" sz="4000" i="1">
                          <a:solidFill>
                            <a:srgbClr val="000000"/>
                          </a:solidFill>
                          <a:latin typeface="Cambria Math" panose="02040503050406030204" pitchFamily="18" charset="0"/>
                        </a:rPr>
                        <m:t> </m:t>
                      </m:r>
                      <m:f>
                        <m:fPr>
                          <m:ctrlPr>
                            <a:rPr lang="cs-CZ" sz="4000" i="1">
                              <a:solidFill>
                                <a:srgbClr val="000000"/>
                              </a:solidFill>
                              <a:latin typeface="Cambria Math"/>
                            </a:rPr>
                          </m:ctrlPr>
                        </m:fPr>
                        <m:num>
                          <m:r>
                            <a:rPr lang="cs-CZ" sz="4000" i="1">
                              <a:solidFill>
                                <a:srgbClr val="000000"/>
                              </a:solidFill>
                              <a:latin typeface="Cambria Math" panose="02040503050406030204" pitchFamily="18" charset="0"/>
                            </a:rPr>
                            <m:t>𝑑</m:t>
                          </m:r>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𝑢</m:t>
                              </m:r>
                            </m:e>
                            <m:sub>
                              <m:r>
                                <a:rPr lang="cs-CZ" sz="4000" i="1">
                                  <a:solidFill>
                                    <a:srgbClr val="000000"/>
                                  </a:solidFill>
                                  <a:latin typeface="Cambria Math" panose="02040503050406030204" pitchFamily="18" charset="0"/>
                                </a:rPr>
                                <m:t>𝑖</m:t>
                              </m:r>
                            </m:sub>
                          </m:sSub>
                        </m:num>
                        <m:den>
                          <m:r>
                            <a:rPr lang="cs-CZ" sz="4000" i="1">
                              <a:solidFill>
                                <a:srgbClr val="000000"/>
                              </a:solidFill>
                              <a:latin typeface="Cambria Math" panose="02040503050406030204" pitchFamily="18" charset="0"/>
                            </a:rPr>
                            <m:t>𝑑𝑡</m:t>
                          </m:r>
                        </m:den>
                      </m:f>
                      <m:r>
                        <a:rPr lang="cs-CZ" sz="4000">
                          <a:solidFill>
                            <a:srgbClr val="000000"/>
                          </a:solidFill>
                          <a:latin typeface="Cambria Math" panose="02040503050406030204" pitchFamily="18" charset="0"/>
                        </a:rPr>
                        <m:t>=−</m:t>
                      </m:r>
                      <m:nary>
                        <m:naryPr>
                          <m:chr m:val="∑"/>
                          <m:limLoc m:val="undOvr"/>
                          <m:ctrlPr>
                            <a:rPr lang="cs-CZ" sz="4000" i="1">
                              <a:solidFill>
                                <a:srgbClr val="000000"/>
                              </a:solidFill>
                              <a:latin typeface="Cambria Math"/>
                            </a:rPr>
                          </m:ctrlPr>
                        </m:naryPr>
                        <m:sub>
                          <m:r>
                            <a:rPr lang="cs-CZ" sz="4000" i="1">
                              <a:solidFill>
                                <a:srgbClr val="000000"/>
                              </a:solidFill>
                              <a:latin typeface="Cambria Math" panose="02040503050406030204" pitchFamily="18" charset="0"/>
                            </a:rPr>
                            <m:t>𝑗</m:t>
                          </m:r>
                          <m:r>
                            <a:rPr lang="cs-CZ" sz="4000">
                              <a:solidFill>
                                <a:srgbClr val="000000"/>
                              </a:solidFill>
                              <a:latin typeface="Cambria Math" panose="02040503050406030204" pitchFamily="18" charset="0"/>
                            </a:rPr>
                            <m:t>=1</m:t>
                          </m:r>
                        </m:sub>
                        <m:sup>
                          <m:r>
                            <a:rPr lang="cs-CZ" sz="4000" i="1">
                              <a:solidFill>
                                <a:srgbClr val="000000"/>
                              </a:solidFill>
                              <a:latin typeface="Cambria Math" panose="02040503050406030204" pitchFamily="18" charset="0"/>
                            </a:rPr>
                            <m:t>𝑁</m:t>
                          </m:r>
                        </m:sup>
                        <m:e>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𝑚</m:t>
                              </m:r>
                            </m:e>
                            <m:sub>
                              <m:r>
                                <a:rPr lang="cs-CZ" sz="4000" i="1">
                                  <a:solidFill>
                                    <a:srgbClr val="000000"/>
                                  </a:solidFill>
                                  <a:latin typeface="Cambria Math" panose="02040503050406030204" pitchFamily="18" charset="0"/>
                                </a:rPr>
                                <m:t>𝑗</m:t>
                              </m:r>
                            </m:sub>
                          </m:sSub>
                          <m:f>
                            <m:fPr>
                              <m:ctrlPr>
                                <a:rPr lang="cs-CZ" sz="4000" i="1">
                                  <a:solidFill>
                                    <a:srgbClr val="000000"/>
                                  </a:solidFill>
                                  <a:latin typeface="Cambria Math"/>
                                </a:rPr>
                              </m:ctrlPr>
                            </m:fPr>
                            <m:num>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𝑝</m:t>
                                  </m:r>
                                </m:e>
                                <m:sub>
                                  <m:r>
                                    <a:rPr lang="cs-CZ" sz="4000" i="1">
                                      <a:solidFill>
                                        <a:srgbClr val="000000"/>
                                      </a:solidFill>
                                      <a:latin typeface="Cambria Math" panose="02040503050406030204" pitchFamily="18" charset="0"/>
                                    </a:rPr>
                                    <m:t>𝑗</m:t>
                                  </m:r>
                                </m:sub>
                              </m:sSub>
                            </m:num>
                            <m:den>
                              <m:sSubSup>
                                <m:sSubSupPr>
                                  <m:ctrlPr>
                                    <a:rPr lang="cs-CZ" sz="4000" i="1">
                                      <a:solidFill>
                                        <a:srgbClr val="000000"/>
                                      </a:solidFill>
                                      <a:latin typeface="Cambria Math"/>
                                    </a:rPr>
                                  </m:ctrlPr>
                                </m:sSubSupPr>
                                <m:e>
                                  <m:r>
                                    <a:rPr lang="cs-CZ" sz="4000" i="1">
                                      <a:solidFill>
                                        <a:srgbClr val="000000"/>
                                      </a:solidFill>
                                      <a:latin typeface="Cambria Math" panose="02040503050406030204" pitchFamily="18" charset="0"/>
                                    </a:rPr>
                                    <m:t>𝜌</m:t>
                                  </m:r>
                                </m:e>
                                <m:sub>
                                  <m:r>
                                    <a:rPr lang="cs-CZ" sz="4000" i="1">
                                      <a:solidFill>
                                        <a:srgbClr val="000000"/>
                                      </a:solidFill>
                                      <a:latin typeface="Cambria Math" panose="02040503050406030204" pitchFamily="18" charset="0"/>
                                    </a:rPr>
                                    <m:t>𝑗</m:t>
                                  </m:r>
                                </m:sub>
                                <m:sup>
                                  <m:r>
                                    <a:rPr lang="cs-CZ" sz="4000">
                                      <a:solidFill>
                                        <a:srgbClr val="000000"/>
                                      </a:solidFill>
                                      <a:latin typeface="Cambria Math" panose="02040503050406030204" pitchFamily="18" charset="0"/>
                                    </a:rPr>
                                    <m:t>2</m:t>
                                  </m:r>
                                </m:sup>
                              </m:sSubSup>
                            </m:den>
                          </m:f>
                          <m:d>
                            <m:dPr>
                              <m:ctrlPr>
                                <a:rPr lang="cs-CZ" sz="4000" i="1">
                                  <a:solidFill>
                                    <a:srgbClr val="000000"/>
                                  </a:solidFill>
                                  <a:latin typeface="Cambria Math"/>
                                </a:rPr>
                              </m:ctrlPr>
                            </m:dPr>
                            <m:e>
                              <m:sSub>
                                <m:sSubPr>
                                  <m:ctrlPr>
                                    <a:rPr lang="cs-CZ" sz="4000" i="1">
                                      <a:solidFill>
                                        <a:srgbClr val="000000"/>
                                      </a:solidFill>
                                      <a:latin typeface="Cambria Math"/>
                                    </a:rPr>
                                  </m:ctrlPr>
                                </m:sSubPr>
                                <m:e>
                                  <m:r>
                                    <a:rPr lang="cs-CZ" sz="4000" b="1">
                                      <a:solidFill>
                                        <a:srgbClr val="000000"/>
                                      </a:solidFill>
                                      <a:latin typeface="Cambria Math" panose="02040503050406030204" pitchFamily="18" charset="0"/>
                                    </a:rPr>
                                    <m:t>𝐯</m:t>
                                  </m:r>
                                </m:e>
                                <m:sub>
                                  <m:r>
                                    <a:rPr lang="cs-CZ" sz="4000" i="1">
                                      <a:solidFill>
                                        <a:srgbClr val="000000"/>
                                      </a:solidFill>
                                      <a:latin typeface="Cambria Math" panose="02040503050406030204" pitchFamily="18" charset="0"/>
                                    </a:rPr>
                                    <m:t>𝑖</m:t>
                                  </m:r>
                                </m:sub>
                              </m:sSub>
                              <m:r>
                                <a:rPr lang="cs-CZ" sz="4000">
                                  <a:solidFill>
                                    <a:srgbClr val="000000"/>
                                  </a:solidFill>
                                  <a:latin typeface="Cambria Math" panose="02040503050406030204" pitchFamily="18" charset="0"/>
                                </a:rPr>
                                <m:t>−</m:t>
                              </m:r>
                              <m:sSub>
                                <m:sSubPr>
                                  <m:ctrlPr>
                                    <a:rPr lang="cs-CZ" sz="4000" i="1">
                                      <a:solidFill>
                                        <a:srgbClr val="000000"/>
                                      </a:solidFill>
                                      <a:latin typeface="Cambria Math"/>
                                    </a:rPr>
                                  </m:ctrlPr>
                                </m:sSubPr>
                                <m:e>
                                  <m:r>
                                    <a:rPr lang="cs-CZ" sz="4000" b="1">
                                      <a:solidFill>
                                        <a:srgbClr val="000000"/>
                                      </a:solidFill>
                                      <a:latin typeface="Cambria Math" panose="02040503050406030204" pitchFamily="18" charset="0"/>
                                    </a:rPr>
                                    <m:t>𝐯</m:t>
                                  </m:r>
                                </m:e>
                                <m:sub>
                                  <m:r>
                                    <a:rPr lang="cs-CZ" sz="4000" i="1">
                                      <a:solidFill>
                                        <a:srgbClr val="000000"/>
                                      </a:solidFill>
                                      <a:latin typeface="Cambria Math" panose="02040503050406030204" pitchFamily="18" charset="0"/>
                                    </a:rPr>
                                    <m:t>𝑗</m:t>
                                  </m:r>
                                </m:sub>
                              </m:sSub>
                            </m:e>
                          </m:d>
                        </m:e>
                      </m:nary>
                      <m:r>
                        <a:rPr lang="cs-CZ" sz="4000">
                          <a:solidFill>
                            <a:srgbClr val="000000"/>
                          </a:solidFill>
                          <a:latin typeface="Cambria Math" panose="02040503050406030204" pitchFamily="18" charset="0"/>
                        </a:rPr>
                        <m:t>𝛻</m:t>
                      </m:r>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𝑤</m:t>
                          </m:r>
                        </m:e>
                        <m:sub>
                          <m:r>
                            <a:rPr lang="cs-CZ" sz="4000" i="1">
                              <a:solidFill>
                                <a:srgbClr val="000000"/>
                              </a:solidFill>
                              <a:latin typeface="Cambria Math" panose="02040503050406030204" pitchFamily="18" charset="0"/>
                            </a:rPr>
                            <m:t>𝑖𝑗</m:t>
                          </m:r>
                        </m:sub>
                      </m:sSub>
                    </m:oMath>
                  </m:oMathPara>
                </a14:m>
                <a:endParaRPr lang="cs-CZ" sz="4000" dirty="0">
                  <a:solidFill>
                    <a:srgbClr val="000000"/>
                  </a:solidFill>
                  <a:latin typeface="Arial" panose="020B0604020202020204" pitchFamily="34" charset="0"/>
                </a:endParaRPr>
              </a:p>
            </p:txBody>
          </p:sp>
        </mc:Choice>
        <mc:Fallback xmlns="">
          <p:sp>
            <p:nvSpPr>
              <p:cNvPr id="21" name="Obdélník 20"/>
              <p:cNvSpPr>
                <a:spLocks noRot="1" noChangeAspect="1" noMove="1" noResize="1" noEditPoints="1" noAdjustHandles="1" noChangeArrowheads="1" noChangeShapeType="1" noTextEdit="1"/>
              </p:cNvSpPr>
              <p:nvPr/>
            </p:nvSpPr>
            <p:spPr>
              <a:xfrm>
                <a:off x="290104" y="20246513"/>
                <a:ext cx="14850091" cy="1892762"/>
              </a:xfrm>
              <a:prstGeom prst="rect">
                <a:avLst/>
              </a:prstGeom>
              <a:blipFill rotWithShape="0">
                <a:blip r:embed="rId7"/>
                <a:stretch>
                  <a:fillRect/>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22" name="Obdélník 21"/>
              <p:cNvSpPr/>
              <p:nvPr/>
            </p:nvSpPr>
            <p:spPr>
              <a:xfrm>
                <a:off x="9922598" y="18767093"/>
                <a:ext cx="4856778" cy="707886"/>
              </a:xfrm>
              <a:prstGeom prst="rect">
                <a:avLst/>
              </a:prstGeom>
            </p:spPr>
            <p:txBody>
              <a:bodyPr wrap="none">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cs-CZ" sz="4000">
                          <a:solidFill>
                            <a:srgbClr val="000000"/>
                          </a:solidFill>
                          <a:latin typeface="Cambria Math" panose="02040503050406030204" pitchFamily="18" charset="0"/>
                        </a:rPr>
                        <m:t>∆</m:t>
                      </m:r>
                      <m:r>
                        <a:rPr lang="cs-CZ" sz="4000" i="1">
                          <a:solidFill>
                            <a:srgbClr val="000000"/>
                          </a:solidFill>
                          <a:latin typeface="Cambria Math" panose="02040503050406030204" pitchFamily="18" charset="0"/>
                        </a:rPr>
                        <m:t>𝑝</m:t>
                      </m:r>
                      <m:r>
                        <a:rPr lang="cs-CZ" sz="4000">
                          <a:solidFill>
                            <a:srgbClr val="000000"/>
                          </a:solidFill>
                          <a:latin typeface="Cambria Math" panose="02040503050406030204" pitchFamily="18" charset="0"/>
                        </a:rPr>
                        <m:t>=</m:t>
                      </m:r>
                      <m:r>
                        <a:rPr lang="en-US" sz="4000" i="1">
                          <a:solidFill>
                            <a:srgbClr val="000000"/>
                          </a:solidFill>
                          <a:latin typeface="Cambria Math" panose="02040503050406030204" pitchFamily="18" charset="0"/>
                        </a:rPr>
                        <m:t>𝑓</m:t>
                      </m:r>
                      <m:d>
                        <m:dPr>
                          <m:ctrlPr>
                            <a:rPr lang="en-US" sz="4000" i="1">
                              <a:solidFill>
                                <a:srgbClr val="000000"/>
                              </a:solidFill>
                              <a:latin typeface="Cambria Math"/>
                            </a:rPr>
                          </m:ctrlPr>
                        </m:dPr>
                        <m:e>
                          <m:r>
                            <a:rPr lang="cs-CZ" sz="4000" i="1">
                              <a:solidFill>
                                <a:srgbClr val="000000"/>
                              </a:solidFill>
                              <a:latin typeface="Cambria Math" panose="02040503050406030204" pitchFamily="18" charset="0"/>
                            </a:rPr>
                            <m:t>𝜌</m:t>
                          </m:r>
                          <m:sSub>
                            <m:sSubPr>
                              <m:ctrlPr>
                                <a:rPr lang="cs-CZ" sz="4000" i="1">
                                  <a:solidFill>
                                    <a:srgbClr val="000000"/>
                                  </a:solidFill>
                                  <a:latin typeface="Cambria Math"/>
                                </a:rPr>
                              </m:ctrlPr>
                            </m:sSubPr>
                            <m:e>
                              <m:r>
                                <a:rPr lang="en-US" sz="4000" i="1">
                                  <a:solidFill>
                                    <a:srgbClr val="000000"/>
                                  </a:solidFill>
                                  <a:latin typeface="Cambria Math" panose="02040503050406030204" pitchFamily="18" charset="0"/>
                                </a:rPr>
                                <m:t>,</m:t>
                              </m:r>
                              <m:r>
                                <a:rPr lang="cs-CZ" sz="4000" i="1">
                                  <a:solidFill>
                                    <a:srgbClr val="000000"/>
                                  </a:solidFill>
                                  <a:latin typeface="Cambria Math" panose="02040503050406030204" pitchFamily="18" charset="0"/>
                                </a:rPr>
                                <m:t>𝜌</m:t>
                              </m:r>
                            </m:e>
                            <m:sub>
                              <m:r>
                                <a:rPr lang="cs-CZ" sz="4000">
                                  <a:solidFill>
                                    <a:srgbClr val="000000"/>
                                  </a:solidFill>
                                  <a:latin typeface="Cambria Math" panose="02040503050406030204" pitchFamily="18" charset="0"/>
                                </a:rPr>
                                <m:t>0</m:t>
                              </m:r>
                            </m:sub>
                          </m:sSub>
                          <m:r>
                            <a:rPr lang="en-US" sz="4000" i="1">
                              <a:solidFill>
                                <a:srgbClr val="000000"/>
                              </a:solidFill>
                              <a:latin typeface="Cambria Math" panose="02040503050406030204" pitchFamily="18" charset="0"/>
                            </a:rPr>
                            <m:t>,</m:t>
                          </m:r>
                          <m:r>
                            <a:rPr lang="en-US" sz="4000" i="1">
                              <a:solidFill>
                                <a:srgbClr val="000000"/>
                              </a:solidFill>
                              <a:latin typeface="Cambria Math" panose="02040503050406030204" pitchFamily="18" charset="0"/>
                            </a:rPr>
                            <m:t>𝑢</m:t>
                          </m:r>
                          <m:r>
                            <a:rPr lang="en-US" sz="4000" i="1">
                              <a:solidFill>
                                <a:srgbClr val="000000"/>
                              </a:solidFill>
                              <a:latin typeface="Cambria Math" panose="02040503050406030204" pitchFamily="18" charset="0"/>
                            </a:rPr>
                            <m:t>,</m:t>
                          </m:r>
                          <m:r>
                            <a:rPr lang="en-US" sz="4000" i="1">
                              <a:solidFill>
                                <a:srgbClr val="000000"/>
                              </a:solidFill>
                              <a:latin typeface="Cambria Math" panose="02040503050406030204" pitchFamily="18" charset="0"/>
                              <a:ea typeface="Cambria Math" panose="02040503050406030204" pitchFamily="18" charset="0"/>
                            </a:rPr>
                            <m:t>𝛾</m:t>
                          </m:r>
                          <m:r>
                            <a:rPr lang="en-US" sz="4000" i="1">
                              <a:solidFill>
                                <a:srgbClr val="000000"/>
                              </a:solidFill>
                              <a:latin typeface="Cambria Math" panose="02040503050406030204" pitchFamily="18" charset="0"/>
                              <a:ea typeface="Cambria Math" panose="02040503050406030204" pitchFamily="18" charset="0"/>
                            </a:rPr>
                            <m:t>,</m:t>
                          </m:r>
                          <m:r>
                            <a:rPr lang="en-US" sz="4000" i="1">
                              <a:solidFill>
                                <a:srgbClr val="000000"/>
                              </a:solidFill>
                              <a:latin typeface="Cambria Math" panose="02040503050406030204" pitchFamily="18" charset="0"/>
                              <a:ea typeface="Cambria Math" panose="02040503050406030204" pitchFamily="18" charset="0"/>
                            </a:rPr>
                            <m:t>𝜅</m:t>
                          </m:r>
                        </m:e>
                      </m:d>
                    </m:oMath>
                  </m:oMathPara>
                </a14:m>
                <a:endParaRPr lang="cs-CZ" sz="4000" dirty="0">
                  <a:solidFill>
                    <a:srgbClr val="000000"/>
                  </a:solidFill>
                  <a:latin typeface="Arial" panose="020B0604020202020204" pitchFamily="34" charset="0"/>
                </a:endParaRPr>
              </a:p>
            </p:txBody>
          </p:sp>
        </mc:Choice>
        <mc:Fallback xmlns="">
          <p:sp>
            <p:nvSpPr>
              <p:cNvPr id="22" name="Obdélník 21"/>
              <p:cNvSpPr>
                <a:spLocks noRot="1" noChangeAspect="1" noMove="1" noResize="1" noEditPoints="1" noAdjustHandles="1" noChangeArrowheads="1" noChangeShapeType="1" noTextEdit="1"/>
              </p:cNvSpPr>
              <p:nvPr/>
            </p:nvSpPr>
            <p:spPr>
              <a:xfrm>
                <a:off x="9922598" y="18767093"/>
                <a:ext cx="4856778" cy="707886"/>
              </a:xfrm>
              <a:prstGeom prst="rect">
                <a:avLst/>
              </a:prstGeom>
              <a:blipFill rotWithShape="0">
                <a:blip r:embed="rId8"/>
                <a:stretch>
                  <a:fillRect/>
                </a:stretch>
              </a:blipFill>
            </p:spPr>
            <p:txBody>
              <a:bodyPr/>
              <a:lstStyle/>
              <a:p>
                <a:r>
                  <a:rPr lang="cs-CZ">
                    <a:noFill/>
                  </a:rPr>
                  <a:t> </a:t>
                </a:r>
              </a:p>
            </p:txBody>
          </p:sp>
        </mc:Fallback>
      </mc:AlternateContent>
      <mc:AlternateContent xmlns:mc="http://schemas.openxmlformats.org/markup-compatibility/2006">
        <mc:Choice xmlns:a14="http://schemas.microsoft.com/office/drawing/2010/main" Requires="a14">
          <p:sp>
            <p:nvSpPr>
              <p:cNvPr id="23" name="Obdélník 22"/>
              <p:cNvSpPr/>
              <p:nvPr/>
            </p:nvSpPr>
            <p:spPr>
              <a:xfrm>
                <a:off x="10654091" y="36888358"/>
                <a:ext cx="4193327" cy="1334083"/>
              </a:xfrm>
              <a:prstGeom prst="rect">
                <a:avLst/>
              </a:prstGeom>
            </p:spPr>
            <p:txBody>
              <a:bodyPr wrap="none">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𝐹</m:t>
                          </m:r>
                        </m:e>
                        <m:sub>
                          <m:r>
                            <a:rPr lang="cs-CZ" sz="4000" i="1">
                              <a:solidFill>
                                <a:srgbClr val="000000"/>
                              </a:solidFill>
                              <a:latin typeface="Cambria Math" panose="02040503050406030204" pitchFamily="18" charset="0"/>
                            </a:rPr>
                            <m:t>𝑛</m:t>
                          </m:r>
                        </m:sub>
                      </m:sSub>
                      <m:r>
                        <a:rPr lang="cs-CZ" sz="4000">
                          <a:solidFill>
                            <a:srgbClr val="000000"/>
                          </a:solidFill>
                          <a:latin typeface="Cambria Math" panose="02040503050406030204" pitchFamily="18" charset="0"/>
                        </a:rPr>
                        <m:t>=</m:t>
                      </m:r>
                      <m:f>
                        <m:fPr>
                          <m:ctrlPr>
                            <a:rPr lang="cs-CZ" sz="4000" i="1">
                              <a:solidFill>
                                <a:srgbClr val="000000"/>
                              </a:solidFill>
                              <a:latin typeface="Cambria Math"/>
                            </a:rPr>
                          </m:ctrlPr>
                        </m:fPr>
                        <m:num>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𝑚</m:t>
                              </m:r>
                            </m:e>
                            <m:sub>
                              <m:r>
                                <a:rPr lang="cs-CZ" sz="4000" i="1">
                                  <a:solidFill>
                                    <a:srgbClr val="000000"/>
                                  </a:solidFill>
                                  <a:latin typeface="Cambria Math" panose="02040503050406030204" pitchFamily="18" charset="0"/>
                                </a:rPr>
                                <m:t>𝑝</m:t>
                              </m:r>
                            </m:sub>
                          </m:sSub>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𝑚</m:t>
                              </m:r>
                            </m:e>
                            <m:sub>
                              <m:r>
                                <a:rPr lang="cs-CZ" sz="4000" i="1">
                                  <a:solidFill>
                                    <a:srgbClr val="000000"/>
                                  </a:solidFill>
                                  <a:latin typeface="Cambria Math" panose="02040503050406030204" pitchFamily="18" charset="0"/>
                                </a:rPr>
                                <m:t>𝑒</m:t>
                              </m:r>
                            </m:sub>
                          </m:sSub>
                        </m:num>
                        <m:den>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𝑚</m:t>
                              </m:r>
                            </m:e>
                            <m:sub>
                              <m:r>
                                <a:rPr lang="cs-CZ" sz="4000" i="1">
                                  <a:solidFill>
                                    <a:srgbClr val="000000"/>
                                  </a:solidFill>
                                  <a:latin typeface="Cambria Math" panose="02040503050406030204" pitchFamily="18" charset="0"/>
                                </a:rPr>
                                <m:t>𝑝</m:t>
                              </m:r>
                            </m:sub>
                          </m:sSub>
                          <m:sSub>
                            <m:sSubPr>
                              <m:ctrlPr>
                                <a:rPr lang="cs-CZ" sz="4000" i="1">
                                  <a:solidFill>
                                    <a:srgbClr val="000000"/>
                                  </a:solidFill>
                                  <a:latin typeface="Cambria Math"/>
                                </a:rPr>
                              </m:ctrlPr>
                            </m:sSubPr>
                            <m:e>
                              <m:r>
                                <a:rPr lang="cs-CZ" sz="4000">
                                  <a:solidFill>
                                    <a:srgbClr val="000000"/>
                                  </a:solidFill>
                                  <a:latin typeface="Cambria Math" panose="02040503050406030204" pitchFamily="18" charset="0"/>
                                </a:rPr>
                                <m:t>+</m:t>
                              </m:r>
                              <m:r>
                                <a:rPr lang="cs-CZ" sz="4000" i="1">
                                  <a:solidFill>
                                    <a:srgbClr val="000000"/>
                                  </a:solidFill>
                                  <a:latin typeface="Cambria Math" panose="02040503050406030204" pitchFamily="18" charset="0"/>
                                </a:rPr>
                                <m:t>𝑚</m:t>
                              </m:r>
                            </m:e>
                            <m:sub>
                              <m:r>
                                <a:rPr lang="cs-CZ" sz="4000" i="1">
                                  <a:solidFill>
                                    <a:srgbClr val="000000"/>
                                  </a:solidFill>
                                  <a:latin typeface="Cambria Math" panose="02040503050406030204" pitchFamily="18" charset="0"/>
                                </a:rPr>
                                <m:t>𝑒</m:t>
                              </m:r>
                            </m:sub>
                          </m:sSub>
                        </m:den>
                      </m:f>
                      <m:f>
                        <m:fPr>
                          <m:ctrlPr>
                            <a:rPr lang="cs-CZ" sz="4000" i="1">
                              <a:solidFill>
                                <a:srgbClr val="000000"/>
                              </a:solidFill>
                              <a:latin typeface="Cambria Math"/>
                            </a:rPr>
                          </m:ctrlPr>
                        </m:fPr>
                        <m:num>
                          <m:r>
                            <a:rPr lang="cs-CZ" sz="4000" i="1">
                              <a:solidFill>
                                <a:srgbClr val="000000"/>
                              </a:solidFill>
                              <a:latin typeface="Cambria Math" panose="02040503050406030204" pitchFamily="18" charset="0"/>
                            </a:rPr>
                            <m:t>𝑝</m:t>
                          </m:r>
                        </m:num>
                        <m:den>
                          <m:r>
                            <a:rPr lang="cs-CZ" sz="4000">
                              <a:solidFill>
                                <a:srgbClr val="000000"/>
                              </a:solidFill>
                              <a:latin typeface="Cambria Math" panose="02040503050406030204" pitchFamily="18" charset="0"/>
                            </a:rPr>
                            <m:t>∆</m:t>
                          </m:r>
                          <m:sSup>
                            <m:sSupPr>
                              <m:ctrlPr>
                                <a:rPr lang="cs-CZ" sz="4000" i="1">
                                  <a:solidFill>
                                    <a:srgbClr val="000000"/>
                                  </a:solidFill>
                                  <a:latin typeface="Cambria Math"/>
                                </a:rPr>
                              </m:ctrlPr>
                            </m:sSupPr>
                            <m:e>
                              <m:r>
                                <a:rPr lang="cs-CZ" sz="4000" i="1">
                                  <a:solidFill>
                                    <a:srgbClr val="000000"/>
                                  </a:solidFill>
                                  <a:latin typeface="Cambria Math" panose="02040503050406030204" pitchFamily="18" charset="0"/>
                                </a:rPr>
                                <m:t>𝑡</m:t>
                              </m:r>
                            </m:e>
                            <m:sup>
                              <m:r>
                                <a:rPr lang="cs-CZ" sz="4000">
                                  <a:solidFill>
                                    <a:srgbClr val="000000"/>
                                  </a:solidFill>
                                  <a:latin typeface="Cambria Math" panose="02040503050406030204" pitchFamily="18" charset="0"/>
                                </a:rPr>
                                <m:t>2</m:t>
                              </m:r>
                            </m:sup>
                          </m:sSup>
                        </m:den>
                      </m:f>
                    </m:oMath>
                  </m:oMathPara>
                </a14:m>
                <a:endParaRPr lang="cs-CZ" sz="4000" dirty="0">
                  <a:solidFill>
                    <a:srgbClr val="000000"/>
                  </a:solidFill>
                  <a:latin typeface="Arial" panose="020B0604020202020204" pitchFamily="34" charset="0"/>
                </a:endParaRPr>
              </a:p>
            </p:txBody>
          </p:sp>
        </mc:Choice>
        <mc:Fallback>
          <p:sp>
            <p:nvSpPr>
              <p:cNvPr id="23" name="Obdélník 22"/>
              <p:cNvSpPr>
                <a:spLocks noRot="1" noChangeAspect="1" noMove="1" noResize="1" noEditPoints="1" noAdjustHandles="1" noChangeArrowheads="1" noChangeShapeType="1" noTextEdit="1"/>
              </p:cNvSpPr>
              <p:nvPr/>
            </p:nvSpPr>
            <p:spPr>
              <a:xfrm>
                <a:off x="10654091" y="36888358"/>
                <a:ext cx="4193327" cy="1334083"/>
              </a:xfrm>
              <a:prstGeom prst="rect">
                <a:avLst/>
              </a:prstGeom>
              <a:blipFill rotWithShape="1">
                <a:blip r:embed="rId9"/>
                <a:stretch>
                  <a:fillRect/>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24" name="Obdélník 23"/>
              <p:cNvSpPr/>
              <p:nvPr/>
            </p:nvSpPr>
            <p:spPr>
              <a:xfrm>
                <a:off x="2505775" y="31716342"/>
                <a:ext cx="10646697" cy="1532279"/>
              </a:xfrm>
              <a:prstGeom prst="rect">
                <a:avLst/>
              </a:prstGeom>
            </p:spPr>
            <p:txBody>
              <a:bodyPr wrap="none">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cs-CZ" sz="4000">
                          <a:solidFill>
                            <a:srgbClr val="000000"/>
                          </a:solidFill>
                          <a:latin typeface="Cambria Math" panose="02040503050406030204" pitchFamily="18" charset="0"/>
                        </a:rPr>
                        <m:t>∆</m:t>
                      </m:r>
                      <m:r>
                        <a:rPr lang="cs-CZ" sz="4000" i="1">
                          <a:solidFill>
                            <a:srgbClr val="000000"/>
                          </a:solidFill>
                          <a:latin typeface="Cambria Math" panose="02040503050406030204" pitchFamily="18" charset="0"/>
                        </a:rPr>
                        <m:t>𝑡</m:t>
                      </m:r>
                      <m:r>
                        <a:rPr lang="cs-CZ" sz="4000">
                          <a:solidFill>
                            <a:srgbClr val="000000"/>
                          </a:solidFill>
                          <a:latin typeface="Cambria Math" panose="02040503050406030204" pitchFamily="18" charset="0"/>
                        </a:rPr>
                        <m:t>≤</m:t>
                      </m:r>
                      <m:func>
                        <m:funcPr>
                          <m:ctrlPr>
                            <a:rPr lang="cs-CZ" sz="4000" i="1">
                              <a:solidFill>
                                <a:srgbClr val="000000"/>
                              </a:solidFill>
                              <a:latin typeface="Cambria Math"/>
                            </a:rPr>
                          </m:ctrlPr>
                        </m:funcPr>
                        <m:fName>
                          <m:limLow>
                            <m:limLowPr>
                              <m:ctrlPr>
                                <a:rPr lang="cs-CZ" sz="4000" i="1">
                                  <a:solidFill>
                                    <a:srgbClr val="000000"/>
                                  </a:solidFill>
                                  <a:latin typeface="Cambria Math"/>
                                </a:rPr>
                              </m:ctrlPr>
                            </m:limLowPr>
                            <m:e>
                              <m:r>
                                <m:rPr>
                                  <m:sty m:val="p"/>
                                </m:rPr>
                                <a:rPr lang="cs-CZ" sz="4000">
                                  <a:solidFill>
                                    <a:srgbClr val="000000"/>
                                  </a:solidFill>
                                  <a:latin typeface="Cambria Math" panose="02040503050406030204" pitchFamily="18" charset="0"/>
                                </a:rPr>
                                <m:t>min</m:t>
                              </m:r>
                            </m:e>
                            <m:lim>
                              <m:r>
                                <a:rPr lang="cs-CZ" sz="4000" i="1">
                                  <a:solidFill>
                                    <a:srgbClr val="000000"/>
                                  </a:solidFill>
                                  <a:latin typeface="Cambria Math" panose="02040503050406030204" pitchFamily="18" charset="0"/>
                                </a:rPr>
                                <m:t>𝐹𝐸</m:t>
                              </m:r>
                              <m:r>
                                <a:rPr lang="cs-CZ" sz="4000">
                                  <a:solidFill>
                                    <a:srgbClr val="000000"/>
                                  </a:solidFill>
                                  <a:latin typeface="Cambria Math" panose="02040503050406030204" pitchFamily="18" charset="0"/>
                                </a:rPr>
                                <m:t>,</m:t>
                              </m:r>
                              <m:r>
                                <a:rPr lang="cs-CZ" sz="4000" i="1">
                                  <a:solidFill>
                                    <a:srgbClr val="000000"/>
                                  </a:solidFill>
                                  <a:latin typeface="Cambria Math" panose="02040503050406030204" pitchFamily="18" charset="0"/>
                                </a:rPr>
                                <m:t>𝑆𝑃𝐻</m:t>
                              </m:r>
                            </m:lim>
                          </m:limLow>
                        </m:fName>
                        <m:e>
                          <m:d>
                            <m:dPr>
                              <m:begChr m:val="{"/>
                              <m:endChr m:val="}"/>
                              <m:ctrlPr>
                                <a:rPr lang="cs-CZ" sz="4000" i="1">
                                  <a:solidFill>
                                    <a:srgbClr val="000000"/>
                                  </a:solidFill>
                                  <a:latin typeface="Cambria Math"/>
                                </a:rPr>
                              </m:ctrlPr>
                            </m:dPr>
                            <m:e>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𝑘</m:t>
                                  </m:r>
                                </m:e>
                                <m:sub>
                                  <m:r>
                                    <a:rPr lang="cs-CZ" sz="4000" i="1">
                                      <a:solidFill>
                                        <a:srgbClr val="000000"/>
                                      </a:solidFill>
                                      <a:latin typeface="Cambria Math" panose="02040503050406030204" pitchFamily="18" charset="0"/>
                                    </a:rPr>
                                    <m:t>𝑠𝑡𝑎𝑏</m:t>
                                  </m:r>
                                </m:sub>
                              </m:sSub>
                              <m:func>
                                <m:funcPr>
                                  <m:ctrlPr>
                                    <a:rPr lang="cs-CZ" sz="4000" i="1">
                                      <a:solidFill>
                                        <a:srgbClr val="000000"/>
                                      </a:solidFill>
                                      <a:latin typeface="Cambria Math"/>
                                    </a:rPr>
                                  </m:ctrlPr>
                                </m:funcPr>
                                <m:fName>
                                  <m:limLow>
                                    <m:limLowPr>
                                      <m:ctrlPr>
                                        <a:rPr lang="cs-CZ" sz="4000" i="1">
                                          <a:solidFill>
                                            <a:srgbClr val="000000"/>
                                          </a:solidFill>
                                          <a:latin typeface="Cambria Math"/>
                                        </a:rPr>
                                      </m:ctrlPr>
                                    </m:limLowPr>
                                    <m:e>
                                      <m:r>
                                        <m:rPr>
                                          <m:sty m:val="p"/>
                                        </m:rPr>
                                        <a:rPr lang="cs-CZ" sz="4000">
                                          <a:solidFill>
                                            <a:srgbClr val="000000"/>
                                          </a:solidFill>
                                          <a:latin typeface="Cambria Math" panose="02040503050406030204" pitchFamily="18" charset="0"/>
                                        </a:rPr>
                                        <m:t>min</m:t>
                                      </m:r>
                                    </m:e>
                                    <m:lim>
                                      <m:r>
                                        <a:rPr lang="cs-CZ" sz="4000" i="1">
                                          <a:solidFill>
                                            <a:srgbClr val="000000"/>
                                          </a:solidFill>
                                          <a:latin typeface="Cambria Math" panose="02040503050406030204" pitchFamily="18" charset="0"/>
                                        </a:rPr>
                                        <m:t>𝐹𝐸</m:t>
                                      </m:r>
                                    </m:lim>
                                  </m:limLow>
                                </m:fName>
                                <m:e>
                                  <m:f>
                                    <m:fPr>
                                      <m:ctrlPr>
                                        <a:rPr lang="cs-CZ" sz="4000" i="1">
                                          <a:solidFill>
                                            <a:srgbClr val="000000"/>
                                          </a:solidFill>
                                          <a:latin typeface="Cambria Math"/>
                                        </a:rPr>
                                      </m:ctrlPr>
                                    </m:fPr>
                                    <m:num>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𝐿</m:t>
                                          </m:r>
                                        </m:e>
                                        <m:sub>
                                          <m:r>
                                            <a:rPr lang="cs-CZ" sz="4000" i="1">
                                              <a:solidFill>
                                                <a:srgbClr val="000000"/>
                                              </a:solidFill>
                                              <a:latin typeface="Cambria Math" panose="02040503050406030204" pitchFamily="18" charset="0"/>
                                            </a:rPr>
                                            <m:t>𝑘</m:t>
                                          </m:r>
                                        </m:sub>
                                      </m:sSub>
                                    </m:num>
                                    <m:den>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𝑐</m:t>
                                          </m:r>
                                        </m:e>
                                        <m:sub>
                                          <m:r>
                                            <a:rPr lang="cs-CZ" sz="4000" i="1">
                                              <a:solidFill>
                                                <a:srgbClr val="000000"/>
                                              </a:solidFill>
                                              <a:latin typeface="Cambria Math" panose="02040503050406030204" pitchFamily="18" charset="0"/>
                                            </a:rPr>
                                            <m:t>𝑘</m:t>
                                          </m:r>
                                        </m:sub>
                                      </m:sSub>
                                    </m:den>
                                  </m:f>
                                </m:e>
                              </m:func>
                              <m:r>
                                <a:rPr lang="cs-CZ" sz="4000">
                                  <a:solidFill>
                                    <a:srgbClr val="000000"/>
                                  </a:solidFill>
                                  <a:latin typeface="Cambria Math" panose="02040503050406030204" pitchFamily="18" charset="0"/>
                                </a:rPr>
                                <m:t>, </m:t>
                              </m:r>
                              <m:f>
                                <m:fPr>
                                  <m:ctrlPr>
                                    <a:rPr lang="cs-CZ" sz="4000" i="1">
                                      <a:solidFill>
                                        <a:srgbClr val="000000"/>
                                      </a:solidFill>
                                      <a:latin typeface="Cambria Math"/>
                                    </a:rPr>
                                  </m:ctrlPr>
                                </m:fPr>
                                <m:num>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h</m:t>
                                      </m:r>
                                    </m:e>
                                    <m:sub>
                                      <m:r>
                                        <a:rPr lang="cs-CZ" sz="4000" i="1">
                                          <a:solidFill>
                                            <a:srgbClr val="000000"/>
                                          </a:solidFill>
                                          <a:latin typeface="Cambria Math" panose="02040503050406030204" pitchFamily="18" charset="0"/>
                                        </a:rPr>
                                        <m:t>𝑗</m:t>
                                      </m:r>
                                    </m:sub>
                                  </m:sSub>
                                </m:num>
                                <m:den>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𝑐</m:t>
                                      </m:r>
                                    </m:e>
                                    <m:sub>
                                      <m:r>
                                        <a:rPr lang="cs-CZ" sz="4000" i="1">
                                          <a:solidFill>
                                            <a:srgbClr val="000000"/>
                                          </a:solidFill>
                                          <a:latin typeface="Cambria Math" panose="02040503050406030204" pitchFamily="18" charset="0"/>
                                        </a:rPr>
                                        <m:t>𝑗</m:t>
                                      </m:r>
                                    </m:sub>
                                  </m:sSub>
                                  <m:r>
                                    <a:rPr lang="cs-CZ" sz="4000">
                                      <a:solidFill>
                                        <a:srgbClr val="000000"/>
                                      </a:solidFill>
                                      <a:latin typeface="Cambria Math" panose="02040503050406030204" pitchFamily="18" charset="0"/>
                                    </a:rPr>
                                    <m:t>+0.6</m:t>
                                  </m:r>
                                  <m:d>
                                    <m:dPr>
                                      <m:ctrlPr>
                                        <a:rPr lang="cs-CZ" sz="4000" i="1">
                                          <a:solidFill>
                                            <a:srgbClr val="000000"/>
                                          </a:solidFill>
                                          <a:latin typeface="Cambria Math"/>
                                        </a:rPr>
                                      </m:ctrlPr>
                                    </m:dPr>
                                    <m:e>
                                      <m:r>
                                        <a:rPr lang="cs-CZ" sz="4000" i="1">
                                          <a:solidFill>
                                            <a:srgbClr val="000000"/>
                                          </a:solidFill>
                                          <a:latin typeface="Cambria Math" panose="02040503050406030204" pitchFamily="18" charset="0"/>
                                        </a:rPr>
                                        <m:t>𝛼</m:t>
                                      </m:r>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𝑐</m:t>
                                          </m:r>
                                        </m:e>
                                        <m:sub>
                                          <m:r>
                                            <a:rPr lang="cs-CZ" sz="4000" i="1">
                                              <a:solidFill>
                                                <a:srgbClr val="000000"/>
                                              </a:solidFill>
                                              <a:latin typeface="Cambria Math" panose="02040503050406030204" pitchFamily="18" charset="0"/>
                                            </a:rPr>
                                            <m:t>𝑗</m:t>
                                          </m:r>
                                        </m:sub>
                                      </m:sSub>
                                      <m:r>
                                        <a:rPr lang="cs-CZ" sz="4000">
                                          <a:solidFill>
                                            <a:srgbClr val="000000"/>
                                          </a:solidFill>
                                          <a:latin typeface="Cambria Math" panose="02040503050406030204" pitchFamily="18" charset="0"/>
                                        </a:rPr>
                                        <m:t>+</m:t>
                                      </m:r>
                                      <m:r>
                                        <a:rPr lang="cs-CZ" sz="4000" i="1">
                                          <a:solidFill>
                                            <a:srgbClr val="000000"/>
                                          </a:solidFill>
                                          <a:latin typeface="Cambria Math" panose="02040503050406030204" pitchFamily="18" charset="0"/>
                                        </a:rPr>
                                        <m:t>𝛽</m:t>
                                      </m:r>
                                      <m:sSub>
                                        <m:sSubPr>
                                          <m:ctrlPr>
                                            <a:rPr lang="cs-CZ" sz="4000" i="1">
                                              <a:solidFill>
                                                <a:srgbClr val="000000"/>
                                              </a:solidFill>
                                              <a:latin typeface="Cambria Math"/>
                                            </a:rPr>
                                          </m:ctrlPr>
                                        </m:sSubPr>
                                        <m:e>
                                          <m:r>
                                            <a:rPr lang="cs-CZ" sz="4000" i="1">
                                              <a:solidFill>
                                                <a:srgbClr val="000000"/>
                                              </a:solidFill>
                                              <a:latin typeface="Cambria Math" panose="02040503050406030204" pitchFamily="18" charset="0"/>
                                            </a:rPr>
                                            <m:t>𝜇</m:t>
                                          </m:r>
                                        </m:e>
                                        <m:sub>
                                          <m:r>
                                            <a:rPr lang="cs-CZ" sz="4000" i="1">
                                              <a:solidFill>
                                                <a:srgbClr val="000000"/>
                                              </a:solidFill>
                                              <a:latin typeface="Cambria Math" panose="02040503050406030204" pitchFamily="18" charset="0"/>
                                            </a:rPr>
                                            <m:t>𝑗</m:t>
                                          </m:r>
                                        </m:sub>
                                      </m:sSub>
                                    </m:e>
                                  </m:d>
                                </m:den>
                              </m:f>
                            </m:e>
                          </m:d>
                        </m:e>
                      </m:func>
                    </m:oMath>
                  </m:oMathPara>
                </a14:m>
                <a:endParaRPr lang="cs-CZ" sz="4000" dirty="0">
                  <a:solidFill>
                    <a:srgbClr val="000000"/>
                  </a:solidFill>
                  <a:latin typeface="Arial" panose="020B0604020202020204" pitchFamily="34" charset="0"/>
                </a:endParaRPr>
              </a:p>
            </p:txBody>
          </p:sp>
        </mc:Choice>
        <mc:Fallback xmlns="">
          <p:sp>
            <p:nvSpPr>
              <p:cNvPr id="24" name="Obdélník 23"/>
              <p:cNvSpPr>
                <a:spLocks noRot="1" noChangeAspect="1" noMove="1" noResize="1" noEditPoints="1" noAdjustHandles="1" noChangeArrowheads="1" noChangeShapeType="1" noTextEdit="1"/>
              </p:cNvSpPr>
              <p:nvPr/>
            </p:nvSpPr>
            <p:spPr>
              <a:xfrm>
                <a:off x="2505775" y="31716342"/>
                <a:ext cx="10646697" cy="1532279"/>
              </a:xfrm>
              <a:prstGeom prst="rect">
                <a:avLst/>
              </a:prstGeom>
              <a:blipFill rotWithShape="0">
                <a:blip r:embed="rId10"/>
                <a:stretch>
                  <a:fillRect/>
                </a:stretch>
              </a:blipFill>
            </p:spPr>
            <p:txBody>
              <a:bodyPr/>
              <a:lstStyle/>
              <a:p>
                <a:r>
                  <a:rPr lang="cs-CZ">
                    <a:noFill/>
                  </a:rPr>
                  <a:t> </a:t>
                </a:r>
              </a:p>
            </p:txBody>
          </p:sp>
        </mc:Fallback>
      </mc:AlternateContent>
      <p:pic>
        <p:nvPicPr>
          <p:cNvPr id="25" name="Picture 11"/>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70297" y="34007168"/>
            <a:ext cx="6776636" cy="1819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6" name="Obdélník 25"/>
              <p:cNvSpPr/>
              <p:nvPr/>
            </p:nvSpPr>
            <p:spPr>
              <a:xfrm>
                <a:off x="8122397" y="27651374"/>
                <a:ext cx="5861520" cy="830997"/>
              </a:xfrm>
              <a:prstGeom prst="rect">
                <a:avLst/>
              </a:prstGeom>
            </p:spPr>
            <p:txBody>
              <a:bodyPr wrap="square">
                <a:spAutoFit/>
              </a:bodyPr>
              <a:lstStyle/>
              <a:p>
                <a:pPr defTabSz="914400" eaLnBrk="0" fontAlgn="base" hangingPunct="0">
                  <a:spcBef>
                    <a:spcPct val="0"/>
                  </a:spcBef>
                  <a:spcAft>
                    <a:spcPct val="0"/>
                  </a:spcAft>
                </a:pPr>
                <a14:m>
                  <m:oMathPara xmlns:m="http://schemas.openxmlformats.org/officeDocument/2006/math">
                    <m:oMathParaPr>
                      <m:jc m:val="center"/>
                    </m:oMathParaPr>
                    <m:oMath xmlns:m="http://schemas.openxmlformats.org/officeDocument/2006/math">
                      <m:r>
                        <a:rPr lang="en-US" sz="4800" b="1" i="1">
                          <a:solidFill>
                            <a:srgbClr val="000000"/>
                          </a:solidFill>
                          <a:latin typeface="Cambria Math" panose="02040503050406030204" pitchFamily="18" charset="0"/>
                        </a:rPr>
                        <m:t>𝐌</m:t>
                      </m:r>
                      <m:acc>
                        <m:accPr>
                          <m:chr m:val="̈"/>
                          <m:ctrlPr>
                            <a:rPr lang="cs-CZ" sz="4800" b="1" i="1">
                              <a:solidFill>
                                <a:srgbClr val="000000"/>
                              </a:solidFill>
                              <a:latin typeface="Cambria Math"/>
                            </a:rPr>
                          </m:ctrlPr>
                        </m:accPr>
                        <m:e>
                          <m:r>
                            <a:rPr lang="en-US" sz="4800" b="1" i="1">
                              <a:solidFill>
                                <a:srgbClr val="000000"/>
                              </a:solidFill>
                              <a:latin typeface="Cambria Math" panose="02040503050406030204" pitchFamily="18" charset="0"/>
                            </a:rPr>
                            <m:t>𝐪</m:t>
                          </m:r>
                        </m:e>
                      </m:acc>
                      <m:r>
                        <a:rPr lang="en-US" sz="4800" b="1" i="1">
                          <a:solidFill>
                            <a:srgbClr val="000000"/>
                          </a:solidFill>
                          <a:latin typeface="Cambria Math" panose="02040503050406030204" pitchFamily="18" charset="0"/>
                        </a:rPr>
                        <m:t>+</m:t>
                      </m:r>
                      <m:r>
                        <a:rPr lang="en-US" sz="4800" b="1" i="1">
                          <a:solidFill>
                            <a:srgbClr val="000000"/>
                          </a:solidFill>
                          <a:latin typeface="Cambria Math" panose="02040503050406030204" pitchFamily="18" charset="0"/>
                        </a:rPr>
                        <m:t>𝐁</m:t>
                      </m:r>
                      <m:acc>
                        <m:accPr>
                          <m:chr m:val="̇"/>
                          <m:ctrlPr>
                            <a:rPr lang="cs-CZ" sz="4800" b="1" i="1">
                              <a:solidFill>
                                <a:srgbClr val="000000"/>
                              </a:solidFill>
                              <a:latin typeface="Cambria Math"/>
                            </a:rPr>
                          </m:ctrlPr>
                        </m:accPr>
                        <m:e>
                          <m:r>
                            <a:rPr lang="en-US" sz="4800" b="1" i="1">
                              <a:solidFill>
                                <a:srgbClr val="000000"/>
                              </a:solidFill>
                              <a:latin typeface="Cambria Math" panose="02040503050406030204" pitchFamily="18" charset="0"/>
                            </a:rPr>
                            <m:t>𝐪</m:t>
                          </m:r>
                        </m:e>
                      </m:acc>
                      <m:r>
                        <a:rPr lang="en-US" sz="4800" b="1" i="1">
                          <a:solidFill>
                            <a:srgbClr val="000000"/>
                          </a:solidFill>
                          <a:latin typeface="Cambria Math" panose="02040503050406030204" pitchFamily="18" charset="0"/>
                        </a:rPr>
                        <m:t>+</m:t>
                      </m:r>
                      <m:r>
                        <a:rPr lang="en-US" sz="4800" b="1" i="1">
                          <a:solidFill>
                            <a:srgbClr val="000000"/>
                          </a:solidFill>
                          <a:latin typeface="Cambria Math" panose="02040503050406030204" pitchFamily="18" charset="0"/>
                        </a:rPr>
                        <m:t>𝐊𝐪</m:t>
                      </m:r>
                      <m:r>
                        <a:rPr lang="en-US" sz="4800" i="1">
                          <a:solidFill>
                            <a:srgbClr val="000000"/>
                          </a:solidFill>
                          <a:latin typeface="Cambria Math" panose="02040503050406030204" pitchFamily="18" charset="0"/>
                        </a:rPr>
                        <m:t>=</m:t>
                      </m:r>
                      <m:r>
                        <a:rPr lang="en-US" sz="4800" b="1" i="1">
                          <a:solidFill>
                            <a:srgbClr val="000000"/>
                          </a:solidFill>
                          <a:latin typeface="Cambria Math" panose="02040503050406030204" pitchFamily="18" charset="0"/>
                        </a:rPr>
                        <m:t>𝐐</m:t>
                      </m:r>
                    </m:oMath>
                  </m:oMathPara>
                </a14:m>
                <a:endParaRPr lang="cs-CZ" sz="4800" dirty="0">
                  <a:solidFill>
                    <a:srgbClr val="000000"/>
                  </a:solidFill>
                  <a:latin typeface="Arial" panose="020B0604020202020204" pitchFamily="34" charset="0"/>
                </a:endParaRPr>
              </a:p>
            </p:txBody>
          </p:sp>
        </mc:Choice>
        <mc:Fallback xmlns="">
          <p:sp>
            <p:nvSpPr>
              <p:cNvPr id="26" name="Obdélník 25"/>
              <p:cNvSpPr>
                <a:spLocks noRot="1" noChangeAspect="1" noMove="1" noResize="1" noEditPoints="1" noAdjustHandles="1" noChangeArrowheads="1" noChangeShapeType="1" noTextEdit="1"/>
              </p:cNvSpPr>
              <p:nvPr/>
            </p:nvSpPr>
            <p:spPr>
              <a:xfrm>
                <a:off x="8122397" y="27651374"/>
                <a:ext cx="5861520" cy="830997"/>
              </a:xfrm>
              <a:prstGeom prst="rect">
                <a:avLst/>
              </a:prstGeom>
              <a:blipFill rotWithShape="0">
                <a:blip r:embed="rId12"/>
                <a:stretch>
                  <a:fillRect/>
                </a:stretch>
              </a:blipFill>
            </p:spPr>
            <p:txBody>
              <a:bodyPr/>
              <a:lstStyle/>
              <a:p>
                <a:r>
                  <a:rPr lang="cs-CZ">
                    <a:noFill/>
                  </a:rPr>
                  <a:t> </a:t>
                </a:r>
              </a:p>
            </p:txBody>
          </p:sp>
        </mc:Fallback>
      </mc:AlternateContent>
      <mc:AlternateContent xmlns:mc="http://schemas.openxmlformats.org/markup-compatibility/2006" xmlns:a14="http://schemas.microsoft.com/office/drawing/2010/main">
        <mc:Choice Requires="a14">
          <p:sp>
            <p:nvSpPr>
              <p:cNvPr id="27" name="Obdélník 26"/>
              <p:cNvSpPr/>
              <p:nvPr/>
            </p:nvSpPr>
            <p:spPr>
              <a:xfrm>
                <a:off x="1286917" y="27219325"/>
                <a:ext cx="5558125" cy="1752018"/>
              </a:xfrm>
              <a:prstGeom prst="rect">
                <a:avLst/>
              </a:prstGeom>
            </p:spPr>
            <p:txBody>
              <a:bodyPr wrap="none">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f>
                        <m:fPr>
                          <m:ctrlPr>
                            <a:rPr lang="cs-CZ" sz="4800" i="1">
                              <a:solidFill>
                                <a:srgbClr val="000000"/>
                              </a:solidFill>
                              <a:latin typeface="Cambria Math"/>
                            </a:rPr>
                          </m:ctrlPr>
                        </m:fPr>
                        <m:num>
                          <m:r>
                            <m:rPr>
                              <m:sty m:val="p"/>
                            </m:rPr>
                            <a:rPr lang="en-US" sz="4800">
                              <a:solidFill>
                                <a:srgbClr val="000000"/>
                              </a:solidFill>
                              <a:latin typeface="Cambria Math" panose="02040503050406030204" pitchFamily="18" charset="0"/>
                            </a:rPr>
                            <m:t>d</m:t>
                          </m:r>
                        </m:num>
                        <m:den>
                          <m:r>
                            <m:rPr>
                              <m:sty m:val="p"/>
                            </m:rPr>
                            <a:rPr lang="en-US" sz="4800">
                              <a:solidFill>
                                <a:srgbClr val="000000"/>
                              </a:solidFill>
                              <a:latin typeface="Cambria Math" panose="02040503050406030204" pitchFamily="18" charset="0"/>
                            </a:rPr>
                            <m:t>dt</m:t>
                          </m:r>
                        </m:den>
                      </m:f>
                      <m:d>
                        <m:dPr>
                          <m:ctrlPr>
                            <a:rPr lang="cs-CZ" sz="4800" i="1">
                              <a:solidFill>
                                <a:srgbClr val="000000"/>
                              </a:solidFill>
                              <a:latin typeface="Cambria Math"/>
                            </a:rPr>
                          </m:ctrlPr>
                        </m:dPr>
                        <m:e>
                          <m:f>
                            <m:fPr>
                              <m:ctrlPr>
                                <a:rPr lang="cs-CZ" sz="4800" i="1">
                                  <a:solidFill>
                                    <a:srgbClr val="000000"/>
                                  </a:solidFill>
                                  <a:latin typeface="Cambria Math"/>
                                </a:rPr>
                              </m:ctrlPr>
                            </m:fPr>
                            <m:num>
                              <m:r>
                                <a:rPr lang="en-US" sz="4800" i="1">
                                  <a:solidFill>
                                    <a:srgbClr val="000000"/>
                                  </a:solidFill>
                                  <a:latin typeface="Cambria Math" panose="02040503050406030204" pitchFamily="18" charset="0"/>
                                </a:rPr>
                                <m:t>𝜕</m:t>
                              </m:r>
                              <m:r>
                                <a:rPr lang="en-US" sz="4800" i="1">
                                  <a:solidFill>
                                    <a:srgbClr val="000000"/>
                                  </a:solidFill>
                                  <a:latin typeface="Cambria Math" panose="02040503050406030204" pitchFamily="18" charset="0"/>
                                </a:rPr>
                                <m:t>𝐿</m:t>
                              </m:r>
                            </m:num>
                            <m:den>
                              <m:r>
                                <a:rPr lang="en-US" sz="4800" i="1">
                                  <a:solidFill>
                                    <a:srgbClr val="000000"/>
                                  </a:solidFill>
                                  <a:latin typeface="Cambria Math" panose="02040503050406030204" pitchFamily="18" charset="0"/>
                                </a:rPr>
                                <m:t>𝜕</m:t>
                              </m:r>
                              <m:sSub>
                                <m:sSubPr>
                                  <m:ctrlPr>
                                    <a:rPr lang="cs-CZ" sz="4800" i="1">
                                      <a:solidFill>
                                        <a:srgbClr val="000000"/>
                                      </a:solidFill>
                                      <a:latin typeface="Cambria Math"/>
                                    </a:rPr>
                                  </m:ctrlPr>
                                </m:sSubPr>
                                <m:e>
                                  <m:acc>
                                    <m:accPr>
                                      <m:chr m:val="̇"/>
                                      <m:ctrlPr>
                                        <a:rPr lang="cs-CZ" sz="4800" b="1" i="1">
                                          <a:solidFill>
                                            <a:srgbClr val="000000"/>
                                          </a:solidFill>
                                          <a:latin typeface="Cambria Math"/>
                                        </a:rPr>
                                      </m:ctrlPr>
                                    </m:accPr>
                                    <m:e>
                                      <m:r>
                                        <a:rPr lang="en-US" sz="4800" b="1" i="1">
                                          <a:solidFill>
                                            <a:srgbClr val="000000"/>
                                          </a:solidFill>
                                          <a:latin typeface="Cambria Math" panose="02040503050406030204" pitchFamily="18" charset="0"/>
                                        </a:rPr>
                                        <m:t>𝒒</m:t>
                                      </m:r>
                                    </m:e>
                                  </m:acc>
                                </m:e>
                                <m:sub>
                                  <m:r>
                                    <a:rPr lang="en-US" sz="4800" i="1">
                                      <a:solidFill>
                                        <a:srgbClr val="000000"/>
                                      </a:solidFill>
                                      <a:latin typeface="Cambria Math" panose="02040503050406030204" pitchFamily="18" charset="0"/>
                                    </a:rPr>
                                    <m:t>𝑖</m:t>
                                  </m:r>
                                </m:sub>
                              </m:sSub>
                            </m:den>
                          </m:f>
                        </m:e>
                      </m:d>
                      <m:r>
                        <a:rPr lang="en-US" sz="4800" i="1">
                          <a:solidFill>
                            <a:srgbClr val="000000"/>
                          </a:solidFill>
                          <a:latin typeface="Cambria Math" panose="02040503050406030204" pitchFamily="18" charset="0"/>
                        </a:rPr>
                        <m:t>−</m:t>
                      </m:r>
                      <m:f>
                        <m:fPr>
                          <m:ctrlPr>
                            <a:rPr lang="cs-CZ" sz="4800" i="1">
                              <a:solidFill>
                                <a:srgbClr val="000000"/>
                              </a:solidFill>
                              <a:latin typeface="Cambria Math"/>
                            </a:rPr>
                          </m:ctrlPr>
                        </m:fPr>
                        <m:num>
                          <m:r>
                            <a:rPr lang="en-US" sz="4800" i="1">
                              <a:solidFill>
                                <a:srgbClr val="000000"/>
                              </a:solidFill>
                              <a:latin typeface="Cambria Math" panose="02040503050406030204" pitchFamily="18" charset="0"/>
                            </a:rPr>
                            <m:t>𝜕</m:t>
                          </m:r>
                          <m:r>
                            <a:rPr lang="en-US" sz="4800" i="1">
                              <a:solidFill>
                                <a:srgbClr val="000000"/>
                              </a:solidFill>
                              <a:latin typeface="Cambria Math" panose="02040503050406030204" pitchFamily="18" charset="0"/>
                            </a:rPr>
                            <m:t>𝐿</m:t>
                          </m:r>
                        </m:num>
                        <m:den>
                          <m:r>
                            <a:rPr lang="en-US" sz="4800" i="1">
                              <a:solidFill>
                                <a:srgbClr val="000000"/>
                              </a:solidFill>
                              <a:latin typeface="Cambria Math" panose="02040503050406030204" pitchFamily="18" charset="0"/>
                            </a:rPr>
                            <m:t>𝜕</m:t>
                          </m:r>
                          <m:sSub>
                            <m:sSubPr>
                              <m:ctrlPr>
                                <a:rPr lang="cs-CZ" sz="4800" i="1">
                                  <a:solidFill>
                                    <a:srgbClr val="000000"/>
                                  </a:solidFill>
                                  <a:latin typeface="Cambria Math"/>
                                </a:rPr>
                              </m:ctrlPr>
                            </m:sSubPr>
                            <m:e>
                              <m:acc>
                                <m:accPr>
                                  <m:chr m:val="̇"/>
                                  <m:ctrlPr>
                                    <a:rPr lang="cs-CZ" sz="4800" b="1" i="1">
                                      <a:solidFill>
                                        <a:srgbClr val="000000"/>
                                      </a:solidFill>
                                      <a:latin typeface="Cambria Math"/>
                                    </a:rPr>
                                  </m:ctrlPr>
                                </m:accPr>
                                <m:e>
                                  <m:r>
                                    <a:rPr lang="en-US" sz="4800" b="1" i="1">
                                      <a:solidFill>
                                        <a:srgbClr val="000000"/>
                                      </a:solidFill>
                                      <a:latin typeface="Cambria Math" panose="02040503050406030204" pitchFamily="18" charset="0"/>
                                    </a:rPr>
                                    <m:t>𝒒</m:t>
                                  </m:r>
                                </m:e>
                              </m:acc>
                            </m:e>
                            <m:sub>
                              <m:r>
                                <a:rPr lang="en-US" sz="4800" i="1">
                                  <a:solidFill>
                                    <a:srgbClr val="000000"/>
                                  </a:solidFill>
                                  <a:latin typeface="Cambria Math" panose="02040503050406030204" pitchFamily="18" charset="0"/>
                                </a:rPr>
                                <m:t>𝑖</m:t>
                              </m:r>
                            </m:sub>
                          </m:sSub>
                        </m:den>
                      </m:f>
                      <m:r>
                        <a:rPr lang="en-US" sz="4800" i="1">
                          <a:solidFill>
                            <a:srgbClr val="000000"/>
                          </a:solidFill>
                          <a:latin typeface="Cambria Math" panose="02040503050406030204" pitchFamily="18" charset="0"/>
                        </a:rPr>
                        <m:t>=</m:t>
                      </m:r>
                      <m:r>
                        <a:rPr lang="en-US" sz="4800" b="1" i="1">
                          <a:solidFill>
                            <a:srgbClr val="000000"/>
                          </a:solidFill>
                          <a:latin typeface="Cambria Math" panose="02040503050406030204" pitchFamily="18" charset="0"/>
                        </a:rPr>
                        <m:t>𝑸</m:t>
                      </m:r>
                    </m:oMath>
                  </m:oMathPara>
                </a14:m>
                <a:endParaRPr lang="cs-CZ" sz="4800" dirty="0">
                  <a:solidFill>
                    <a:srgbClr val="000000"/>
                  </a:solidFill>
                  <a:latin typeface="Arial" panose="020B0604020202020204" pitchFamily="34" charset="0"/>
                </a:endParaRPr>
              </a:p>
            </p:txBody>
          </p:sp>
        </mc:Choice>
        <mc:Fallback xmlns="">
          <p:sp>
            <p:nvSpPr>
              <p:cNvPr id="27" name="Obdélník 26"/>
              <p:cNvSpPr>
                <a:spLocks noRot="1" noChangeAspect="1" noMove="1" noResize="1" noEditPoints="1" noAdjustHandles="1" noChangeArrowheads="1" noChangeShapeType="1" noTextEdit="1"/>
              </p:cNvSpPr>
              <p:nvPr/>
            </p:nvSpPr>
            <p:spPr>
              <a:xfrm>
                <a:off x="1286917" y="27219325"/>
                <a:ext cx="5558125" cy="1752018"/>
              </a:xfrm>
              <a:prstGeom prst="rect">
                <a:avLst/>
              </a:prstGeom>
              <a:blipFill rotWithShape="0">
                <a:blip r:embed="rId13"/>
                <a:stretch>
                  <a:fillRect/>
                </a:stretch>
              </a:blipFill>
            </p:spPr>
            <p:txBody>
              <a:bodyPr/>
              <a:lstStyle/>
              <a:p>
                <a:r>
                  <a:rPr lang="cs-CZ">
                    <a:noFill/>
                  </a:rPr>
                  <a:t> </a:t>
                </a:r>
              </a:p>
            </p:txBody>
          </p:sp>
        </mc:Fallback>
      </mc:AlternateContent>
      <p:sp>
        <p:nvSpPr>
          <p:cNvPr id="28" name="Text Box 5"/>
          <p:cNvSpPr txBox="1">
            <a:spLocks noChangeArrowheads="1"/>
          </p:cNvSpPr>
          <p:nvPr/>
        </p:nvSpPr>
        <p:spPr bwMode="auto">
          <a:xfrm>
            <a:off x="15145347" y="5400901"/>
            <a:ext cx="15121680" cy="11496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Arial" panose="020B0604020202020204" pitchFamily="34" charset="0"/>
              </a:rPr>
              <a:t>The code and the validation</a:t>
            </a:r>
            <a:endParaRPr kumimoji="0" lang="cs-CZ" sz="40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There is a structured input text file describing the task to be investigated by the code. Due to the pre- and post-processor developed as </a:t>
            </a:r>
            <a:r>
              <a:rPr kumimoji="0" lang="en-US" sz="4000" b="0" i="0" u="none" strike="noStrike" kern="0" cap="none" spc="0" normalizeH="0" baseline="0" noProof="0" dirty="0" smtClean="0">
                <a:ln>
                  <a:noFill/>
                </a:ln>
                <a:solidFill>
                  <a:srgbClr val="000000"/>
                </a:solidFill>
                <a:effectLst/>
                <a:uLnTx/>
                <a:uFillTx/>
                <a:latin typeface="Arial" panose="020B0604020202020204" pitchFamily="34" charset="0"/>
              </a:rPr>
              <a:t>GUI </a:t>
            </a: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in MATLAB, the M-file can be used to design the structure is also </a:t>
            </a:r>
            <a:r>
              <a:rPr kumimoji="0" lang="en-US" sz="4000" b="0" i="0" u="none" strike="noStrike" kern="0" cap="none" spc="0" normalizeH="0" baseline="0" noProof="0" dirty="0" smtClean="0">
                <a:ln>
                  <a:noFill/>
                </a:ln>
                <a:solidFill>
                  <a:srgbClr val="000000"/>
                </a:solidFill>
                <a:effectLst/>
                <a:uLnTx/>
                <a:uFillTx/>
                <a:latin typeface="Arial" panose="020B0604020202020204" pitchFamily="34" charset="0"/>
              </a:rPr>
              <a:t>defined.</a:t>
            </a:r>
            <a:endParaRPr kumimoji="0" lang="cs-CZ" sz="4000" b="0"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Arial"/>
              </a:rPr>
              <a:t>Shock tube</a:t>
            </a:r>
          </a:p>
          <a:p>
            <a:pPr marL="571489" marR="0" lvl="0" indent="-571489" defTabSz="914400" eaLnBrk="0" fontAlgn="base" latinLnBrk="0" hangingPunct="0">
              <a:lnSpc>
                <a:spcPct val="100000"/>
              </a:lnSpc>
              <a:spcBef>
                <a:spcPct val="2000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Stationary gas divided by</a:t>
            </a:r>
            <a:br>
              <a:rPr kumimoji="0" lang="en-US" sz="4000" b="0" i="0" u="none" strike="noStrike" kern="0" cap="none" spc="0" normalizeH="0" baseline="0" noProof="0" dirty="0">
                <a:ln>
                  <a:noFill/>
                </a:ln>
                <a:solidFill>
                  <a:srgbClr val="000000"/>
                </a:solidFill>
                <a:effectLst/>
                <a:uLnTx/>
                <a:uFillTx/>
                <a:latin typeface="Arial" panose="020B0604020202020204" pitchFamily="34" charset="0"/>
              </a:rPr>
            </a:b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diaphragm into two regions</a:t>
            </a:r>
          </a:p>
          <a:p>
            <a:pPr marL="571489" marR="0" lvl="0" indent="-571489" defTabSz="914400" eaLnBrk="0" fontAlgn="base" latinLnBrk="0" hangingPunct="0">
              <a:lnSpc>
                <a:spcPct val="100000"/>
              </a:lnSpc>
              <a:spcBef>
                <a:spcPct val="2000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Initial pressures and densities</a:t>
            </a:r>
            <a:endParaRPr kumimoji="0" lang="cs-CZ" sz="4000" b="0"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Arial"/>
              </a:rPr>
              <a:t>Broken dam</a:t>
            </a:r>
          </a:p>
          <a:p>
            <a:pPr marL="571489" marR="0" lvl="0" indent="-571489" defTabSz="914400" eaLnBrk="0" fontAlgn="base" latinLnBrk="0" hangingPunct="0">
              <a:lnSpc>
                <a:spcPct val="100000"/>
              </a:lnSpc>
              <a:spcBef>
                <a:spcPct val="2000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Free surface flow</a:t>
            </a:r>
          </a:p>
          <a:p>
            <a:pPr marL="571489" marR="0" lvl="0" indent="-571489" defTabSz="914400" eaLnBrk="0" fontAlgn="base" latinLnBrk="0" hangingPunct="0">
              <a:lnSpc>
                <a:spcPct val="100000"/>
              </a:lnSpc>
              <a:spcBef>
                <a:spcPct val="2000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Sensitivity analysis</a:t>
            </a:r>
          </a:p>
          <a:p>
            <a:pPr marL="0" marR="0" lvl="0" indent="0" algn="just" defTabSz="914400" eaLnBrk="1" fontAlgn="base" latinLnBrk="0" hangingPunct="1">
              <a:lnSpc>
                <a:spcPct val="100000"/>
              </a:lnSpc>
              <a:spcBef>
                <a:spcPct val="0"/>
              </a:spcBef>
              <a:spcAft>
                <a:spcPct val="0"/>
              </a:spcAft>
              <a:buClrTx/>
              <a:buSzTx/>
              <a:buFontTx/>
              <a:buNone/>
              <a:tabLst/>
              <a:defRPr/>
            </a:pPr>
            <a:endParaRPr kumimoji="0" lang="en-US" sz="4000" b="0" i="0" u="none" strike="noStrike" kern="0" cap="none" spc="0" normalizeH="0" baseline="0" noProof="0" dirty="0">
              <a:ln>
                <a:noFill/>
              </a:ln>
              <a:solidFill>
                <a:srgbClr val="000000"/>
              </a:solidFill>
              <a:effectLst/>
              <a:uLnTx/>
              <a:uFillTx/>
              <a:latin typeface="Arial"/>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Arial"/>
              </a:rPr>
              <a:t>Crashing ball</a:t>
            </a:r>
          </a:p>
          <a:p>
            <a:pPr marL="571489" marR="0" lvl="0" indent="-571489" defTabSz="914400" eaLnBrk="0" fontAlgn="base" latinLnBrk="0" hangingPunct="0">
              <a:lnSpc>
                <a:spcPct val="100000"/>
              </a:lnSpc>
              <a:spcBef>
                <a:spcPct val="20000"/>
              </a:spcBef>
              <a:spcAft>
                <a:spcPct val="0"/>
              </a:spcAft>
              <a:buClrTx/>
              <a:buSzTx/>
              <a:buFontTx/>
              <a:buChar char="•"/>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Full 3D problem</a:t>
            </a:r>
            <a:endParaRPr kumimoji="0" lang="cs-CZ" sz="4000" b="0" i="0" u="none" strike="noStrike" kern="0" cap="none" spc="0" normalizeH="0" baseline="0" noProof="0" dirty="0">
              <a:ln>
                <a:noFill/>
              </a:ln>
              <a:solidFill>
                <a:srgbClr val="000000"/>
              </a:solidFill>
              <a:effectLst/>
              <a:uLnTx/>
              <a:uFillTx/>
              <a:latin typeface="Arial" panose="020B0604020202020204" pitchFamily="34" charset="0"/>
            </a:endParaRPr>
          </a:p>
        </p:txBody>
      </p:sp>
      <p:pic>
        <p:nvPicPr>
          <p:cNvPr id="29" name="Obrázek 28"/>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3039858" y="8240743"/>
            <a:ext cx="7011147" cy="5400000"/>
          </a:xfrm>
          <a:prstGeom prst="rect">
            <a:avLst/>
          </a:prstGeom>
        </p:spPr>
      </p:pic>
      <p:graphicFrame>
        <p:nvGraphicFramePr>
          <p:cNvPr id="30" name="Tabulka 29"/>
          <p:cNvGraphicFramePr>
            <a:graphicFrameLocks noGrp="1"/>
          </p:cNvGraphicFramePr>
          <p:nvPr>
            <p:extLst>
              <p:ext uri="{D42A27DB-BD31-4B8C-83A1-F6EECF244321}">
                <p14:modId xmlns:p14="http://schemas.microsoft.com/office/powerpoint/2010/main" val="3601153838"/>
              </p:ext>
            </p:extLst>
          </p:nvPr>
        </p:nvGraphicFramePr>
        <p:xfrm>
          <a:off x="20587399" y="28614372"/>
          <a:ext cx="9739878" cy="7439498"/>
        </p:xfrm>
        <a:graphic>
          <a:graphicData uri="http://schemas.openxmlformats.org/drawingml/2006/table">
            <a:tbl>
              <a:tblPr/>
              <a:tblGrid>
                <a:gridCol w="1944217"/>
                <a:gridCol w="1872208"/>
                <a:gridCol w="1981831"/>
                <a:gridCol w="1407864"/>
                <a:gridCol w="2533758"/>
              </a:tblGrid>
              <a:tr h="503318">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indent="144145" algn="ctr">
                        <a:spcAft>
                          <a:spcPts val="0"/>
                        </a:spcAft>
                        <a:tabLst>
                          <a:tab pos="215900" algn="l"/>
                          <a:tab pos="431800" algn="l"/>
                        </a:tabLst>
                      </a:pPr>
                      <a:r>
                        <a:rPr lang="en-US" sz="3200" dirty="0" smtClean="0">
                          <a:effectLst/>
                        </a:rPr>
                        <a:t>Model</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Bef>
                          <a:spcPts val="100"/>
                        </a:spcBef>
                        <a:spcAft>
                          <a:spcPts val="0"/>
                        </a:spcAft>
                        <a:tabLst>
                          <a:tab pos="215900" algn="l"/>
                          <a:tab pos="431800" algn="l"/>
                        </a:tabLst>
                      </a:pPr>
                      <a:r>
                        <a:rPr lang="en-US" sz="3200" dirty="0">
                          <a:effectLst/>
                        </a:rPr>
                        <a:t>Particles</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Variant</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NNS</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100"/>
                        </a:spcAft>
                        <a:tabLst>
                          <a:tab pos="215900" algn="l"/>
                          <a:tab pos="431800" algn="l"/>
                        </a:tabLst>
                      </a:pPr>
                      <a:r>
                        <a:rPr lang="en-US" sz="3200" dirty="0" smtClean="0">
                          <a:effectLst/>
                        </a:rPr>
                        <a:t>Time [</a:t>
                      </a:r>
                      <a:r>
                        <a:rPr lang="en-US" sz="3200" dirty="0">
                          <a:effectLst/>
                        </a:rPr>
                        <a:t>s]</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503318">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Coarse</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19 x 19</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N</a:t>
                      </a:r>
                      <a:r>
                        <a:rPr lang="en-US" sz="3200" baseline="30000" dirty="0">
                          <a:effectLst/>
                        </a:rPr>
                        <a:t>2</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1.34</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652712">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smtClean="0">
                          <a:effectLst/>
                        </a:rPr>
                        <a:t>Subs</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1.32</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503318">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X-SPH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N</a:t>
                      </a:r>
                      <a:r>
                        <a:rPr lang="en-US" sz="3200" baseline="30000" dirty="0">
                          <a:effectLst/>
                        </a:rPr>
                        <a:t>2</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5.40</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652712">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X-SPH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smtClean="0">
                          <a:effectLst/>
                        </a:rPr>
                        <a:t>Subs</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5.33</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503318">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Fine</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57 x 57</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N</a:t>
                      </a:r>
                      <a:r>
                        <a:rPr lang="en-US" sz="3200" baseline="30000" dirty="0">
                          <a:effectLst/>
                        </a:rPr>
                        <a:t>2</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80.65</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652712">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smtClean="0">
                          <a:effectLst/>
                        </a:rPr>
                        <a:t>Subs</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56.00</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503318">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X-SPH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N</a:t>
                      </a:r>
                      <a:r>
                        <a:rPr lang="en-US" sz="3200" baseline="30000" dirty="0">
                          <a:effectLst/>
                        </a:rPr>
                        <a:t>2</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779.04</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652712">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X-SPH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smtClean="0">
                          <a:effectLst/>
                        </a:rPr>
                        <a:t>Subs</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754.14</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503318">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Very fine</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114 x 114</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N</a:t>
                      </a:r>
                      <a:r>
                        <a:rPr lang="en-US" sz="3200" baseline="30000" dirty="0">
                          <a:effectLst/>
                        </a:rPr>
                        <a:t>2</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1 850.75</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652712">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smtClean="0">
                          <a:effectLst/>
                        </a:rPr>
                        <a:t>Subs</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974.21</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503318">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Complex</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228 x 228</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N</a:t>
                      </a:r>
                      <a:r>
                        <a:rPr lang="en-US" sz="3200" baseline="30000" dirty="0">
                          <a:effectLst/>
                        </a:rPr>
                        <a:t>2</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79 243.73</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r h="652712">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 </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SPH</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smtClean="0">
                          <a:effectLst/>
                        </a:rPr>
                        <a:t>Subs</a:t>
                      </a:r>
                      <a:endParaRPr lang="cs-CZ" sz="3200" dirty="0">
                        <a:effectLst/>
                        <a:latin typeface="Times New Roman" panose="02020603050405020304" pitchFamily="18" charset="0"/>
                        <a:ea typeface="Batang" panose="02030600000101010101" pitchFamily="18" charset="-127"/>
                      </a:endParaRPr>
                    </a:p>
                  </a:txBody>
                  <a:tcPr marL="36195" marR="36195" marT="6985" marB="698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3027487" rtl="0" eaLnBrk="1" latinLnBrk="0" hangingPunct="1">
                        <a:defRPr sz="5960" kern="1200">
                          <a:solidFill>
                            <a:schemeClr val="dk1"/>
                          </a:solidFill>
                          <a:latin typeface="Arial"/>
                          <a:ea typeface=""/>
                          <a:cs typeface=""/>
                        </a:defRPr>
                      </a:lvl1pPr>
                      <a:lvl2pPr marL="1513743" algn="l" defTabSz="3027487" rtl="0" eaLnBrk="1" latinLnBrk="0" hangingPunct="1">
                        <a:defRPr sz="5960" kern="1200">
                          <a:solidFill>
                            <a:schemeClr val="dk1"/>
                          </a:solidFill>
                          <a:latin typeface="Arial"/>
                          <a:ea typeface=""/>
                          <a:cs typeface=""/>
                        </a:defRPr>
                      </a:lvl2pPr>
                      <a:lvl3pPr marL="3027487" algn="l" defTabSz="3027487" rtl="0" eaLnBrk="1" latinLnBrk="0" hangingPunct="1">
                        <a:defRPr sz="5960" kern="1200">
                          <a:solidFill>
                            <a:schemeClr val="dk1"/>
                          </a:solidFill>
                          <a:latin typeface="Arial"/>
                          <a:ea typeface=""/>
                          <a:cs typeface=""/>
                        </a:defRPr>
                      </a:lvl3pPr>
                      <a:lvl4pPr marL="4541230" algn="l" defTabSz="3027487" rtl="0" eaLnBrk="1" latinLnBrk="0" hangingPunct="1">
                        <a:defRPr sz="5960" kern="1200">
                          <a:solidFill>
                            <a:schemeClr val="dk1"/>
                          </a:solidFill>
                          <a:latin typeface="Arial"/>
                          <a:ea typeface=""/>
                          <a:cs typeface=""/>
                        </a:defRPr>
                      </a:lvl4pPr>
                      <a:lvl5pPr marL="6054974" algn="l" defTabSz="3027487" rtl="0" eaLnBrk="1" latinLnBrk="0" hangingPunct="1">
                        <a:defRPr sz="5960" kern="1200">
                          <a:solidFill>
                            <a:schemeClr val="dk1"/>
                          </a:solidFill>
                          <a:latin typeface="Arial"/>
                          <a:ea typeface=""/>
                          <a:cs typeface=""/>
                        </a:defRPr>
                      </a:lvl5pPr>
                      <a:lvl6pPr marL="7568717" algn="l" defTabSz="3027487" rtl="0" eaLnBrk="1" latinLnBrk="0" hangingPunct="1">
                        <a:defRPr sz="5960" kern="1200">
                          <a:solidFill>
                            <a:schemeClr val="dk1"/>
                          </a:solidFill>
                          <a:latin typeface="Arial"/>
                          <a:ea typeface=""/>
                          <a:cs typeface=""/>
                        </a:defRPr>
                      </a:lvl6pPr>
                      <a:lvl7pPr marL="9082461" algn="l" defTabSz="3027487" rtl="0" eaLnBrk="1" latinLnBrk="0" hangingPunct="1">
                        <a:defRPr sz="5960" kern="1200">
                          <a:solidFill>
                            <a:schemeClr val="dk1"/>
                          </a:solidFill>
                          <a:latin typeface="Arial"/>
                          <a:ea typeface=""/>
                          <a:cs typeface=""/>
                        </a:defRPr>
                      </a:lvl7pPr>
                      <a:lvl8pPr marL="10596204" algn="l" defTabSz="3027487" rtl="0" eaLnBrk="1" latinLnBrk="0" hangingPunct="1">
                        <a:defRPr sz="5960" kern="1200">
                          <a:solidFill>
                            <a:schemeClr val="dk1"/>
                          </a:solidFill>
                          <a:latin typeface="Arial"/>
                          <a:ea typeface=""/>
                          <a:cs typeface=""/>
                        </a:defRPr>
                      </a:lvl8pPr>
                      <a:lvl9pPr marL="12109948" algn="l" defTabSz="3027487" rtl="0" eaLnBrk="1" latinLnBrk="0" hangingPunct="1">
                        <a:defRPr sz="5960" kern="1200">
                          <a:solidFill>
                            <a:schemeClr val="dk1"/>
                          </a:solidFill>
                          <a:latin typeface="Arial"/>
                          <a:ea typeface=""/>
                          <a:cs typeface=""/>
                        </a:defRPr>
                      </a:lvl9pPr>
                    </a:lstStyle>
                    <a:p>
                      <a:pPr algn="ctr">
                        <a:spcAft>
                          <a:spcPts val="0"/>
                        </a:spcAft>
                        <a:tabLst>
                          <a:tab pos="215900" algn="l"/>
                          <a:tab pos="431800" algn="l"/>
                        </a:tabLst>
                      </a:pPr>
                      <a:r>
                        <a:rPr lang="en-US" sz="3200" dirty="0">
                          <a:effectLst/>
                        </a:rPr>
                        <a:t>14 290.08</a:t>
                      </a:r>
                      <a:endParaRPr lang="cs-CZ" sz="3200" dirty="0">
                        <a:effectLst/>
                        <a:latin typeface="Times New Roman" panose="02020603050405020304" pitchFamily="18" charset="0"/>
                        <a:ea typeface="Batang" panose="02030600000101010101" pitchFamily="18" charset="-127"/>
                      </a:endParaRPr>
                    </a:p>
                  </a:txBody>
                  <a:tcPr marL="36195" marR="36195" marT="6985" marB="698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r>
            </a:tbl>
          </a:graphicData>
        </a:graphic>
      </p:graphicFrame>
      <p:pic>
        <p:nvPicPr>
          <p:cNvPr id="31" name="Obrázek 3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1636213" y="13683165"/>
            <a:ext cx="9001000" cy="6722672"/>
          </a:xfrm>
          <a:prstGeom prst="rect">
            <a:avLst/>
          </a:prstGeom>
        </p:spPr>
      </p:pic>
      <p:pic>
        <p:nvPicPr>
          <p:cNvPr id="32" name="Obrázek 31"/>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1677747" y="20099887"/>
            <a:ext cx="8560754" cy="7551487"/>
          </a:xfrm>
          <a:prstGeom prst="rect">
            <a:avLst/>
          </a:prstGeom>
        </p:spPr>
      </p:pic>
      <p:sp>
        <p:nvSpPr>
          <p:cNvPr id="33" name="Text Box 5"/>
          <p:cNvSpPr txBox="1">
            <a:spLocks noChangeArrowheads="1"/>
          </p:cNvSpPr>
          <p:nvPr/>
        </p:nvSpPr>
        <p:spPr bwMode="auto">
          <a:xfrm>
            <a:off x="15145347" y="16832826"/>
            <a:ext cx="6696744" cy="12604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Arial" panose="020B0604020202020204" pitchFamily="34" charset="0"/>
              </a:rPr>
              <a:t>Results</a:t>
            </a:r>
          </a:p>
          <a:p>
            <a:pPr marL="0" marR="0" lvl="0" indent="0" algn="just" defTabSz="914400" eaLnBrk="0" fontAlgn="base" latinLnBrk="0" hangingPunct="0">
              <a:lnSpc>
                <a:spcPct val="100000"/>
              </a:lnSpc>
              <a:spcBef>
                <a:spcPct val="2000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SPHCOFEM investigating the problems of fluid flow and its interaction with deformable boundaries was developed.</a:t>
            </a:r>
          </a:p>
          <a:p>
            <a:pPr marL="0" marR="0" lvl="0" indent="0" algn="just" defTabSz="914400" eaLnBrk="0" fontAlgn="base" latinLnBrk="0" hangingPunct="0">
              <a:lnSpc>
                <a:spcPct val="100000"/>
              </a:lnSpc>
              <a:spcBef>
                <a:spcPct val="2000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The core of the package in C++ is the Lagrangean method for fluid flow simulation by SPH that is coupled to boundary FE via continuous contact model.</a:t>
            </a:r>
          </a:p>
          <a:p>
            <a:pPr marL="0" marR="0" lvl="0" indent="0" algn="just" defTabSz="914400" eaLnBrk="0" fontAlgn="base" latinLnBrk="0" hangingPunct="0">
              <a:lnSpc>
                <a:spcPct val="100000"/>
              </a:lnSpc>
              <a:spcBef>
                <a:spcPct val="2000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MATLAB </a:t>
            </a:r>
            <a:r>
              <a:rPr kumimoji="0" lang="en-US" sz="4000" b="0" i="0" u="none" strike="noStrike" kern="0" cap="none" spc="0" normalizeH="0" baseline="0" noProof="0" dirty="0" smtClean="0">
                <a:ln>
                  <a:noFill/>
                </a:ln>
                <a:solidFill>
                  <a:srgbClr val="000000"/>
                </a:solidFill>
                <a:effectLst/>
                <a:uLnTx/>
                <a:uFillTx/>
                <a:latin typeface="Arial" panose="020B0604020202020204" pitchFamily="34" charset="0"/>
              </a:rPr>
              <a:t>is used </a:t>
            </a: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for pre- and post-processing.</a:t>
            </a:r>
          </a:p>
          <a:p>
            <a:pPr marL="0" marR="0" lvl="0" indent="0" algn="just" defTabSz="914400" eaLnBrk="0" fontAlgn="base" latinLnBrk="0" hangingPunct="0">
              <a:lnSpc>
                <a:spcPct val="100000"/>
              </a:lnSpc>
              <a:spcBef>
                <a:spcPct val="2000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The presented algorithm is implemented as in-house software for fluid flow in 1D, 2D or 3D.</a:t>
            </a:r>
          </a:p>
        </p:txBody>
      </p:sp>
      <p:sp>
        <p:nvSpPr>
          <p:cNvPr id="34" name="Text Box 5"/>
          <p:cNvSpPr txBox="1">
            <a:spLocks noChangeArrowheads="1"/>
          </p:cNvSpPr>
          <p:nvPr/>
        </p:nvSpPr>
        <p:spPr bwMode="auto">
          <a:xfrm>
            <a:off x="15154000" y="29002176"/>
            <a:ext cx="5607972" cy="7187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GUI is developed for reading the input file in the text format defined by keywords. The study shows both advantages and disadvantages using SPH coupled to FE and its exploitation for real engineering problems.</a:t>
            </a:r>
          </a:p>
        </p:txBody>
      </p:sp>
      <p:sp>
        <p:nvSpPr>
          <p:cNvPr id="35" name="Text Box 5"/>
          <p:cNvSpPr txBox="1">
            <a:spLocks noChangeArrowheads="1"/>
          </p:cNvSpPr>
          <p:nvPr/>
        </p:nvSpPr>
        <p:spPr bwMode="auto">
          <a:xfrm>
            <a:off x="15145355" y="36198468"/>
            <a:ext cx="15121680" cy="2263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12413" tIns="206206" rIns="412413" bIns="206206">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dirty="0" smtClean="0">
                <a:ln>
                  <a:noFill/>
                </a:ln>
                <a:solidFill>
                  <a:srgbClr val="000000"/>
                </a:solidFill>
                <a:effectLst/>
                <a:uLnTx/>
                <a:uFillTx/>
                <a:latin typeface="Arial" panose="020B0604020202020204" pitchFamily="34" charset="0"/>
              </a:rPr>
              <a:t>Acknowledgments</a:t>
            </a:r>
            <a:endParaRPr kumimoji="0" lang="en-US" sz="4000" b="1" i="0" u="none" strike="noStrike" kern="0" cap="none" spc="0" normalizeH="0" baseline="0" noProof="0" dirty="0">
              <a:ln>
                <a:noFill/>
              </a:ln>
              <a:solidFill>
                <a:srgbClr val="000000"/>
              </a:solidFill>
              <a:effectLst/>
              <a:uLnTx/>
              <a:uFillTx/>
              <a:latin typeface="Arial" panose="020B0604020202020204" pitchFamily="34" charset="0"/>
            </a:endParaRPr>
          </a:p>
          <a:p>
            <a:pPr marL="0" marR="0" lvl="0" indent="0" algn="just" defTabSz="914400" eaLnBrk="1" fontAlgn="base" latinLnBrk="0" hangingPunct="1">
              <a:lnSpc>
                <a:spcPct val="100000"/>
              </a:lnSpc>
              <a:spcBef>
                <a:spcPct val="0"/>
              </a:spcBef>
              <a:spcAft>
                <a:spcPct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The work is co-financed by </a:t>
            </a:r>
            <a:r>
              <a:rPr kumimoji="0" lang="en-US" sz="4000" b="0" i="0" u="none" strike="noStrike" kern="0" cap="none" spc="0" normalizeH="0" baseline="0" noProof="0" dirty="0" smtClean="0">
                <a:ln>
                  <a:noFill/>
                </a:ln>
                <a:solidFill>
                  <a:srgbClr val="000000"/>
                </a:solidFill>
                <a:effectLst/>
                <a:uLnTx/>
                <a:uFillTx/>
                <a:latin typeface="Arial" panose="020B0604020202020204" pitchFamily="34" charset="0"/>
              </a:rPr>
              <a:t>the </a:t>
            </a:r>
            <a:r>
              <a:rPr kumimoji="0" lang="en-US" sz="4000" b="0" i="0" u="none" strike="noStrike" kern="0" cap="none" spc="0" normalizeH="0" baseline="0" noProof="0" dirty="0">
                <a:ln>
                  <a:noFill/>
                </a:ln>
                <a:solidFill>
                  <a:srgbClr val="000000"/>
                </a:solidFill>
                <a:effectLst/>
                <a:uLnTx/>
                <a:uFillTx/>
                <a:latin typeface="Arial" panose="020B0604020202020204" pitchFamily="34" charset="0"/>
              </a:rPr>
              <a:t>project SGS-2013-026 “Development of biomechanical models for medicine”.</a:t>
            </a:r>
            <a:endParaRPr kumimoji="0" lang="cs-CZ" sz="4000" b="0" i="0" u="none" strike="noStrike" kern="0" cap="none" spc="0" normalizeH="0" baseline="0" noProof="0" dirty="0">
              <a:ln>
                <a:noFill/>
              </a:ln>
              <a:solidFill>
                <a:srgbClr val="000000"/>
              </a:solidFill>
              <a:effectLst/>
              <a:uLnTx/>
              <a:uFillTx/>
              <a:latin typeface="Arial" panose="020B0604020202020204" pitchFamily="34" charset="0"/>
            </a:endParaRPr>
          </a:p>
        </p:txBody>
      </p:sp>
    </p:spTree>
    <p:extLst>
      <p:ext uri="{BB962C8B-B14F-4D97-AF65-F5344CB8AC3E}">
        <p14:creationId xmlns:p14="http://schemas.microsoft.com/office/powerpoint/2010/main" val="93471934"/>
      </p:ext>
    </p:extLst>
  </p:cSld>
  <p:clrMapOvr>
    <a:masterClrMapping/>
  </p:clrMapOvr>
  <p:timing>
    <p:tnLst>
      <p:par>
        <p:cTn id="1" dur="indefinite" restart="never" nodeType="tmRoot"/>
      </p:par>
    </p:tnLst>
  </p:timing>
</p:sld>
</file>

<file path=ppt/theme/theme1.xml><?xml version="1.0" encoding="utf-8"?>
<a:theme xmlns:a="http://schemas.openxmlformats.org/drawingml/2006/main" name="Motiv Office">
  <a:themeElements>
    <a:clrScheme name="Motiv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iv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iv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TotalTime>
  <Words>965</Words>
  <Application>Microsoft Office PowerPoint</Application>
  <PresentationFormat>Vlastní</PresentationFormat>
  <Paragraphs>145</Paragraphs>
  <Slides>1</Slides>
  <Notes>0</Notes>
  <HiddenSlides>0</HiddenSlides>
  <MMClips>0</MMClips>
  <ScaleCrop>false</ScaleCrop>
  <HeadingPairs>
    <vt:vector size="4" baseType="variant">
      <vt:variant>
        <vt:lpstr>Motiv</vt:lpstr>
      </vt:variant>
      <vt:variant>
        <vt:i4>1</vt:i4>
      </vt:variant>
      <vt:variant>
        <vt:lpstr>Nadpisy snímků</vt:lpstr>
      </vt:variant>
      <vt:variant>
        <vt:i4>1</vt:i4>
      </vt:variant>
    </vt:vector>
  </HeadingPairs>
  <TitlesOfParts>
    <vt:vector size="2" baseType="lpstr">
      <vt:lpstr>Motiv Office</vt:lpstr>
      <vt:lpstr>Prezentace aplikace PowerPoint</vt:lpstr>
    </vt:vector>
  </TitlesOfParts>
  <Company>Západočeská univerzita v Plzni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Luděk Hynčík</dc:creator>
  <cp:lastModifiedBy>hyncik</cp:lastModifiedBy>
  <cp:revision>8</cp:revision>
  <dcterms:created xsi:type="dcterms:W3CDTF">2015-06-02T09:08:35Z</dcterms:created>
  <dcterms:modified xsi:type="dcterms:W3CDTF">2015-06-09T16:36:49Z</dcterms:modified>
</cp:coreProperties>
</file>